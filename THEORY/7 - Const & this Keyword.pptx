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6" r:id="rId11"/>
    <p:sldId id="274" r:id="rId12"/>
    <p:sldId id="275" r:id="rId13"/>
    <p:sldId id="277" r:id="rId14"/>
    <p:sldId id="278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9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dirty="0" err="1"/>
              <a:t>const</a:t>
            </a:r>
            <a:r>
              <a:rPr lang="en-GB" dirty="0"/>
              <a:t>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is a keyword that tells the compiler: </a:t>
            </a:r>
            <a:r>
              <a:rPr lang="en-GB" i="1" dirty="0"/>
              <a:t>"this value cannot be changed after initialization."</a:t>
            </a:r>
            <a:r>
              <a:rPr lang="en-GB" dirty="0"/>
              <a:t> It enforces immutability, and helps the compiler catch accidental modification errors at compile-time rather than causing bugs at runtime.</a:t>
            </a:r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 err="1"/>
              <a:t>const</a:t>
            </a:r>
            <a:r>
              <a:rPr lang="en-GB" dirty="0"/>
              <a:t> int x = 10;</a:t>
            </a:r>
          </a:p>
          <a:p>
            <a:pPr marL="457200" lvl="1" indent="0">
              <a:buNone/>
            </a:pPr>
            <a:r>
              <a:rPr lang="en-GB" dirty="0"/>
              <a:t>x = 20;   // ERROR - cannot modify a </a:t>
            </a:r>
            <a:r>
              <a:rPr lang="en-GB" dirty="0" err="1"/>
              <a:t>const</a:t>
            </a:r>
            <a:r>
              <a:rPr lang="en-GB" dirty="0"/>
              <a:t> variable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1D9B-7A85-52D1-0B04-FF10BE5DF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with Variables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F3C1E-AF59-4643-3BC4-5D0354055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Must be </a:t>
            </a:r>
            <a:r>
              <a:rPr lang="en-GB" b="1" dirty="0"/>
              <a:t>initialized at the time of declaration</a:t>
            </a:r>
            <a:r>
              <a:rPr lang="en-GB" dirty="0"/>
              <a:t> (can't assign later).</a:t>
            </a:r>
          </a:p>
          <a:p>
            <a:r>
              <a:rPr lang="en-GB" dirty="0"/>
              <a:t>Value stays fixed for the variable's lifetime.</a:t>
            </a:r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 err="1"/>
              <a:t>const</a:t>
            </a:r>
            <a:r>
              <a:rPr lang="en-GB" dirty="0"/>
              <a:t> double PI = 3.14159;</a:t>
            </a:r>
          </a:p>
          <a:p>
            <a:pPr marL="457200" lvl="1" indent="0">
              <a:buNone/>
            </a:pPr>
            <a:r>
              <a:rPr lang="en-GB" dirty="0" err="1"/>
              <a:t>const</a:t>
            </a:r>
            <a:r>
              <a:rPr lang="en-GB" dirty="0"/>
              <a:t> int MAX_STUDENTS = 100;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46541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7118-1F63-EA57-A230-601B2A5B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with Pointers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68C88-636C-69D7-5CD5-F274F4A1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GB" b="1" dirty="0"/>
              <a:t>Pointer to a </a:t>
            </a:r>
            <a:r>
              <a:rPr lang="en-GB" b="1" dirty="0" err="1"/>
              <a:t>const</a:t>
            </a:r>
            <a:r>
              <a:rPr lang="en-GB" b="1" dirty="0"/>
              <a:t> value </a:t>
            </a:r>
            <a:r>
              <a:rPr lang="en-GB" dirty="0"/>
              <a:t>- value can't change, pointer can point elsewhere: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const</a:t>
            </a:r>
            <a:r>
              <a:rPr lang="en-GB" dirty="0"/>
              <a:t> int *</a:t>
            </a:r>
            <a:r>
              <a:rPr lang="en-GB" dirty="0" err="1"/>
              <a:t>ptr</a:t>
            </a:r>
            <a:r>
              <a:rPr lang="en-GB" dirty="0"/>
              <a:t> = &amp;x; // *</a:t>
            </a:r>
            <a:r>
              <a:rPr lang="en-GB" dirty="0" err="1"/>
              <a:t>ptr</a:t>
            </a:r>
            <a:r>
              <a:rPr lang="en-GB" dirty="0"/>
              <a:t> = 5; ERROR | </a:t>
            </a:r>
            <a:r>
              <a:rPr lang="en-GB" dirty="0" err="1"/>
              <a:t>ptr</a:t>
            </a:r>
            <a:r>
              <a:rPr lang="en-GB" dirty="0"/>
              <a:t> = &amp;y; OK</a:t>
            </a:r>
          </a:p>
          <a:p>
            <a:endParaRPr lang="en-GB" dirty="0"/>
          </a:p>
          <a:p>
            <a:r>
              <a:rPr lang="en-GB" b="1" dirty="0" err="1"/>
              <a:t>Const</a:t>
            </a:r>
            <a:r>
              <a:rPr lang="en-GB" b="1" dirty="0"/>
              <a:t> pointer </a:t>
            </a:r>
            <a:r>
              <a:rPr lang="en-GB" dirty="0"/>
              <a:t>- pointer itself can't change, but value it points to can:</a:t>
            </a:r>
          </a:p>
          <a:p>
            <a:pPr marL="0" indent="0">
              <a:buNone/>
            </a:pPr>
            <a:r>
              <a:rPr lang="en-GB" dirty="0"/>
              <a:t>	int *</a:t>
            </a: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ptr</a:t>
            </a:r>
            <a:r>
              <a:rPr lang="en-GB" dirty="0"/>
              <a:t> = &amp;x; // *</a:t>
            </a:r>
            <a:r>
              <a:rPr lang="en-GB" dirty="0" err="1"/>
              <a:t>ptr</a:t>
            </a:r>
            <a:r>
              <a:rPr lang="en-GB" dirty="0"/>
              <a:t> = 5; OK | </a:t>
            </a:r>
            <a:r>
              <a:rPr lang="en-GB" dirty="0" err="1"/>
              <a:t>ptr</a:t>
            </a:r>
            <a:r>
              <a:rPr lang="en-GB" dirty="0"/>
              <a:t> = &amp;y; ERROR</a:t>
            </a:r>
          </a:p>
          <a:p>
            <a:endParaRPr lang="en-GB" dirty="0"/>
          </a:p>
          <a:p>
            <a:r>
              <a:rPr lang="en-GB" b="1" dirty="0" err="1"/>
              <a:t>Const</a:t>
            </a:r>
            <a:r>
              <a:rPr lang="en-GB" b="1" dirty="0"/>
              <a:t> pointer to </a:t>
            </a:r>
            <a:r>
              <a:rPr lang="en-GB" b="1" dirty="0" err="1"/>
              <a:t>const</a:t>
            </a:r>
            <a:r>
              <a:rPr lang="en-GB" b="1" dirty="0"/>
              <a:t> value </a:t>
            </a:r>
            <a:r>
              <a:rPr lang="en-GB" dirty="0"/>
              <a:t>- neither can change: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const</a:t>
            </a:r>
            <a:r>
              <a:rPr lang="en-GB" dirty="0"/>
              <a:t> int *</a:t>
            </a: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ptr</a:t>
            </a:r>
            <a:r>
              <a:rPr lang="en-GB" dirty="0"/>
              <a:t> = &amp;x; // both *</a:t>
            </a:r>
            <a:r>
              <a:rPr lang="en-GB" dirty="0" err="1"/>
              <a:t>ptr</a:t>
            </a:r>
            <a:r>
              <a:rPr lang="en-GB" dirty="0"/>
              <a:t> = 5; and </a:t>
            </a:r>
            <a:r>
              <a:rPr lang="en-GB" dirty="0" err="1"/>
              <a:t>ptr</a:t>
            </a:r>
            <a:r>
              <a:rPr lang="en-GB" dirty="0"/>
              <a:t> = &amp;y; ERROR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56248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50C4-07C2-53A8-ABF8-403D945C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with Function Parameters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8DF89-1E41-624E-B963-1292F9F69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to pass large objects efficiently (no copy) while preventing modification - something we already covered with </a:t>
            </a:r>
            <a:r>
              <a:rPr lang="en-GB" dirty="0" err="1"/>
              <a:t>const</a:t>
            </a:r>
            <a:r>
              <a:rPr lang="en-GB" dirty="0"/>
              <a:t> Student &amp;s in copy constructors and comparison functions.</a:t>
            </a:r>
          </a:p>
          <a:p>
            <a:endParaRPr lang="en-GB" dirty="0"/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/>
              <a:t>void display(</a:t>
            </a:r>
            <a:r>
              <a:rPr lang="en-GB" dirty="0" err="1"/>
              <a:t>const</a:t>
            </a:r>
            <a:r>
              <a:rPr lang="en-GB" dirty="0"/>
              <a:t> Student &amp;s) {</a:t>
            </a:r>
          </a:p>
          <a:p>
            <a:pPr marL="457200" lvl="1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</a:t>
            </a:r>
            <a:r>
              <a:rPr lang="en-GB" dirty="0" err="1"/>
              <a:t>s.getMarks</a:t>
            </a:r>
            <a:r>
              <a:rPr lang="en-GB" dirty="0"/>
              <a:t>();</a:t>
            </a:r>
          </a:p>
          <a:p>
            <a:pPr marL="457200" lvl="1" indent="0">
              <a:buNone/>
            </a:pPr>
            <a:r>
              <a:rPr lang="en-GB" dirty="0"/>
              <a:t>    // </a:t>
            </a:r>
            <a:r>
              <a:rPr lang="en-GB" dirty="0" err="1"/>
              <a:t>s.marks</a:t>
            </a:r>
            <a:r>
              <a:rPr lang="en-GB" dirty="0"/>
              <a:t> = 100;   // ERROR - not allowed</a:t>
            </a:r>
          </a:p>
          <a:p>
            <a:pPr marL="457200" lvl="1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49599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A0CE-B83E-BDEB-CF40-8491EFC3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Member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49CF4-8F71-3FBD-3A2D-21DF91BB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08"/>
            <a:ext cx="10515600" cy="498106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 member function marked </a:t>
            </a:r>
            <a:r>
              <a:rPr lang="en-GB" dirty="0" err="1"/>
              <a:t>const</a:t>
            </a:r>
            <a:r>
              <a:rPr lang="en-GB" dirty="0"/>
              <a:t> promises not to modify any data member of the calling object.</a:t>
            </a:r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/>
              <a:t>class Student { </a:t>
            </a:r>
          </a:p>
          <a:p>
            <a:pPr marL="457200" lvl="1" indent="0">
              <a:buNone/>
            </a:pPr>
            <a:r>
              <a:rPr lang="en-GB" dirty="0"/>
              <a:t>int marks; </a:t>
            </a:r>
          </a:p>
          <a:p>
            <a:pPr marL="457200" lvl="1" indent="0">
              <a:buNone/>
            </a:pPr>
            <a:r>
              <a:rPr lang="en-GB" dirty="0"/>
              <a:t>public: </a:t>
            </a:r>
          </a:p>
          <a:p>
            <a:pPr marL="457200" lvl="1" indent="0">
              <a:buNone/>
            </a:pPr>
            <a:r>
              <a:rPr lang="en-GB" dirty="0"/>
              <a:t>int </a:t>
            </a:r>
            <a:r>
              <a:rPr lang="en-GB" dirty="0" err="1"/>
              <a:t>getMarks</a:t>
            </a:r>
            <a:r>
              <a:rPr lang="en-GB" dirty="0"/>
              <a:t>() </a:t>
            </a:r>
            <a:r>
              <a:rPr lang="en-GB" dirty="0" err="1"/>
              <a:t>const</a:t>
            </a:r>
            <a:r>
              <a:rPr lang="en-GB" dirty="0"/>
              <a:t> { // </a:t>
            </a:r>
            <a:r>
              <a:rPr lang="en-GB" dirty="0" err="1"/>
              <a:t>const</a:t>
            </a:r>
            <a:r>
              <a:rPr lang="en-GB" dirty="0"/>
              <a:t> function </a:t>
            </a:r>
          </a:p>
          <a:p>
            <a:pPr marL="457200" lvl="1" indent="0">
              <a:buNone/>
            </a:pPr>
            <a:r>
              <a:rPr lang="en-GB" dirty="0"/>
              <a:t>return marks; // read-only, OK </a:t>
            </a:r>
          </a:p>
          <a:p>
            <a:pPr marL="457200" lvl="1" indent="0">
              <a:buNone/>
            </a:pPr>
            <a:r>
              <a:rPr lang="en-GB" dirty="0"/>
              <a:t>// marks = 100; // ERROR if uncommented } };</a:t>
            </a:r>
          </a:p>
          <a:p>
            <a:r>
              <a:rPr lang="en-GB" dirty="0"/>
              <a:t>Rule: A </a:t>
            </a:r>
            <a:r>
              <a:rPr lang="en-GB" dirty="0" err="1"/>
              <a:t>const</a:t>
            </a:r>
            <a:r>
              <a:rPr lang="en-GB" dirty="0"/>
              <a:t> object can call only </a:t>
            </a:r>
            <a:r>
              <a:rPr lang="en-GB" dirty="0" err="1"/>
              <a:t>const</a:t>
            </a:r>
            <a:r>
              <a:rPr lang="en-GB" dirty="0"/>
              <a:t> member functions.</a:t>
            </a:r>
          </a:p>
          <a:p>
            <a:r>
              <a:rPr lang="en-GB" dirty="0"/>
              <a:t>We've covered this in depth already - getters should almost always be const.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18401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48D4-D331-5458-30AB-A72A9D10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PK" dirty="0"/>
              <a:t>onst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14787-BF27-4919-B144-FBFB2632D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entire object can be declared </a:t>
            </a:r>
            <a:r>
              <a:rPr lang="en-GB" dirty="0" err="1"/>
              <a:t>const</a:t>
            </a:r>
            <a:r>
              <a:rPr lang="en-GB" dirty="0"/>
              <a:t>, meaning </a:t>
            </a:r>
            <a:r>
              <a:rPr lang="en-GB" b="1" dirty="0"/>
              <a:t>none</a:t>
            </a:r>
            <a:r>
              <a:rPr lang="en-GB" dirty="0"/>
              <a:t> of its data members can be changed after construction (except via constructor).</a:t>
            </a:r>
          </a:p>
          <a:p>
            <a:endParaRPr lang="en-GB" dirty="0"/>
          </a:p>
          <a:p>
            <a:r>
              <a:rPr lang="en-GB" dirty="0"/>
              <a:t>Example:</a:t>
            </a:r>
          </a:p>
          <a:p>
            <a:pPr marL="457200" lvl="1" indent="0">
              <a:buNone/>
            </a:pPr>
            <a:r>
              <a:rPr lang="en-GB" dirty="0" err="1"/>
              <a:t>const</a:t>
            </a:r>
            <a:r>
              <a:rPr lang="en-GB" dirty="0"/>
              <a:t> Student s1("Ali", 90);</a:t>
            </a:r>
          </a:p>
          <a:p>
            <a:pPr marL="457200" lvl="1" indent="0">
              <a:buNone/>
            </a:pPr>
            <a:r>
              <a:rPr lang="en-GB" dirty="0"/>
              <a:t>// s1.marks = 100;      // ERROR - direct access blocked</a:t>
            </a:r>
          </a:p>
          <a:p>
            <a:pPr marL="457200" lvl="1" indent="0">
              <a:buNone/>
            </a:pPr>
            <a:r>
              <a:rPr lang="en-GB" dirty="0"/>
              <a:t>s1.getMarks();          // OK - </a:t>
            </a:r>
            <a:r>
              <a:rPr lang="en-GB" dirty="0" err="1"/>
              <a:t>const</a:t>
            </a:r>
            <a:r>
              <a:rPr lang="en-GB" dirty="0"/>
              <a:t> function called on </a:t>
            </a:r>
            <a:r>
              <a:rPr lang="en-GB" dirty="0" err="1"/>
              <a:t>const</a:t>
            </a:r>
            <a:r>
              <a:rPr lang="en-GB" dirty="0"/>
              <a:t> object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8595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E45D-403D-8F26-618F-79DE0CAA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mutable Keyword (Exception to </a:t>
            </a:r>
            <a:r>
              <a:rPr lang="en-GB" dirty="0" err="1"/>
              <a:t>const</a:t>
            </a:r>
            <a:r>
              <a:rPr lang="en-GB" dirty="0"/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C9483-7082-794D-AC99-B6DB3D6BC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50791"/>
          </a:xfrm>
        </p:spPr>
        <p:txBody>
          <a:bodyPr>
            <a:normAutofit/>
          </a:bodyPr>
          <a:lstStyle/>
          <a:p>
            <a:r>
              <a:rPr lang="en-GB" dirty="0"/>
              <a:t>Sometimes you need </a:t>
            </a:r>
            <a:r>
              <a:rPr lang="en-GB" b="1" dirty="0"/>
              <a:t>one specific data member</a:t>
            </a:r>
            <a:r>
              <a:rPr lang="en-GB" dirty="0"/>
              <a:t> to be modifiable </a:t>
            </a:r>
            <a:r>
              <a:rPr lang="en-GB" b="1" dirty="0"/>
              <a:t>even inside a </a:t>
            </a:r>
            <a:r>
              <a:rPr lang="en-GB" b="1" dirty="0" err="1"/>
              <a:t>const</a:t>
            </a:r>
            <a:r>
              <a:rPr lang="en-GB" b="1" dirty="0"/>
              <a:t> function</a:t>
            </a:r>
            <a:r>
              <a:rPr lang="en-GB" dirty="0"/>
              <a:t> (e.g., for internal logging/caching). The mutable keyword allows this exception.</a:t>
            </a:r>
          </a:p>
          <a:p>
            <a:r>
              <a:rPr lang="en-GB" dirty="0"/>
              <a:t>Example:</a:t>
            </a:r>
          </a:p>
          <a:p>
            <a:pPr marL="914400" lvl="2" indent="0">
              <a:buNone/>
            </a:pPr>
            <a:r>
              <a:rPr lang="en-GB" dirty="0"/>
              <a:t>class Student {</a:t>
            </a:r>
          </a:p>
          <a:p>
            <a:pPr marL="914400" lvl="2" indent="0">
              <a:buNone/>
            </a:pPr>
            <a:r>
              <a:rPr lang="en-GB" dirty="0"/>
              <a:t>    int marks;</a:t>
            </a:r>
          </a:p>
          <a:p>
            <a:pPr marL="914400" lvl="2" indent="0">
              <a:buNone/>
            </a:pPr>
            <a:r>
              <a:rPr lang="en-GB" dirty="0"/>
              <a:t>    mutable int </a:t>
            </a:r>
            <a:r>
              <a:rPr lang="en-GB" dirty="0" err="1"/>
              <a:t>accessCount</a:t>
            </a:r>
            <a:r>
              <a:rPr lang="en-GB" dirty="0"/>
              <a:t> = 0;   // exception - can change even in </a:t>
            </a:r>
            <a:r>
              <a:rPr lang="en-GB" dirty="0" err="1"/>
              <a:t>const</a:t>
            </a:r>
            <a:r>
              <a:rPr lang="en-GB" dirty="0"/>
              <a:t> functions</a:t>
            </a:r>
          </a:p>
          <a:p>
            <a:pPr marL="914400" lvl="2" indent="0">
              <a:buNone/>
            </a:pPr>
            <a:r>
              <a:rPr lang="en-GB" dirty="0"/>
              <a:t>public:</a:t>
            </a:r>
          </a:p>
          <a:p>
            <a:pPr marL="914400" lvl="2" indent="0">
              <a:buNone/>
            </a:pPr>
            <a:r>
              <a:rPr lang="en-GB" dirty="0"/>
              <a:t>    int </a:t>
            </a:r>
            <a:r>
              <a:rPr lang="en-GB" dirty="0" err="1"/>
              <a:t>getMarks</a:t>
            </a:r>
            <a:r>
              <a:rPr lang="en-GB" dirty="0"/>
              <a:t>() </a:t>
            </a:r>
            <a:r>
              <a:rPr lang="en-GB" dirty="0" err="1"/>
              <a:t>const</a:t>
            </a:r>
            <a:r>
              <a:rPr lang="en-GB" dirty="0"/>
              <a:t> {</a:t>
            </a:r>
          </a:p>
          <a:p>
            <a:pPr marL="914400" lvl="2" indent="0">
              <a:buNone/>
            </a:pPr>
            <a:r>
              <a:rPr lang="en-GB" dirty="0"/>
              <a:t>        </a:t>
            </a:r>
            <a:r>
              <a:rPr lang="en-GB" dirty="0" err="1"/>
              <a:t>accessCount</a:t>
            </a:r>
            <a:r>
              <a:rPr lang="en-GB" dirty="0"/>
              <a:t>++;    // allowed! </a:t>
            </a:r>
            <a:r>
              <a:rPr lang="en-GB" dirty="0" err="1"/>
              <a:t>accessCount</a:t>
            </a:r>
            <a:r>
              <a:rPr lang="en-GB" dirty="0"/>
              <a:t> is mutable</a:t>
            </a:r>
          </a:p>
          <a:p>
            <a:pPr marL="914400" lvl="2" indent="0">
              <a:buNone/>
            </a:pPr>
            <a:r>
              <a:rPr lang="en-GB" dirty="0"/>
              <a:t>        return marks;</a:t>
            </a:r>
          </a:p>
          <a:p>
            <a:pPr marL="914400" lvl="2" indent="0">
              <a:buNone/>
            </a:pPr>
            <a:r>
              <a:rPr lang="en-GB" dirty="0"/>
              <a:t>    }		};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8284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9FB2-2DFD-C0D6-5DE6-C54B71B9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PK" dirty="0"/>
              <a:t>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828B-38DB-9012-3815-B0B1DD794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is a pointer automatically available inside every non-static member function. </a:t>
            </a:r>
          </a:p>
          <a:p>
            <a:r>
              <a:rPr lang="en-GB" dirty="0"/>
              <a:t>It points to the current object - the specific object on which the member function was called. </a:t>
            </a:r>
          </a:p>
          <a:p>
            <a:r>
              <a:rPr lang="en-GB" dirty="0"/>
              <a:t>Type: </a:t>
            </a:r>
            <a:r>
              <a:rPr lang="en-GB" dirty="0" err="1"/>
              <a:t>ClassName</a:t>
            </a:r>
            <a:r>
              <a:rPr lang="en-GB" dirty="0"/>
              <a:t> *this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1991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325B-41EB-C826-1819-83A7E8B3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it's needed: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99A7-2ED5-F716-99C5-4BA10F87B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distinguish between a data member and a parameter with the same name.</a:t>
            </a:r>
          </a:p>
          <a:p>
            <a:r>
              <a:rPr lang="en-GB" dirty="0"/>
              <a:t>To return the current object itself (useful for method chaining).</a:t>
            </a:r>
          </a:p>
          <a:p>
            <a:r>
              <a:rPr lang="en-GB" dirty="0"/>
              <a:t>To pass the current object to another function.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99562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62A8-F86A-A889-4C0D-730C5256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01"/>
            <a:ext cx="10515600" cy="1325563"/>
          </a:xfrm>
        </p:spPr>
        <p:txBody>
          <a:bodyPr/>
          <a:lstStyle/>
          <a:p>
            <a:r>
              <a:rPr lang="en-PK" dirty="0"/>
              <a:t>Name Shadowing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40507-2BBF-3505-4C24-4D0E6A1EC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334000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273239"/>
                </a:solidFill>
                <a:effectLst/>
              </a:rPr>
              <a:t>Variable shadowing is a common programming concept where a variable declared in some specific scope takes precedence over a variable with the same name declared in an outer scope.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class Student {</a:t>
            </a:r>
          </a:p>
          <a:p>
            <a:pPr marL="457200" lvl="1" indent="0">
              <a:buNone/>
            </a:pPr>
            <a:r>
              <a:rPr lang="en-GB" dirty="0"/>
              <a:t>private:</a:t>
            </a:r>
          </a:p>
          <a:p>
            <a:pPr marL="457200" lvl="1" indent="0">
              <a:buNone/>
            </a:pPr>
            <a:r>
              <a:rPr lang="en-GB" dirty="0"/>
              <a:t>    int marks;</a:t>
            </a:r>
          </a:p>
          <a:p>
            <a:pPr marL="457200" lvl="1" indent="0">
              <a:buNone/>
            </a:pPr>
            <a:r>
              <a:rPr lang="en-GB" dirty="0"/>
              <a:t>public:</a:t>
            </a:r>
          </a:p>
          <a:p>
            <a:pPr marL="457200" lvl="1" indent="0">
              <a:buNone/>
            </a:pPr>
            <a:r>
              <a:rPr lang="en-GB" dirty="0"/>
              <a:t>    void </a:t>
            </a:r>
            <a:r>
              <a:rPr lang="en-GB" dirty="0" err="1"/>
              <a:t>setMarks</a:t>
            </a:r>
            <a:r>
              <a:rPr lang="en-GB" dirty="0"/>
              <a:t>(int marks) {       // parameter name same as data member</a:t>
            </a:r>
          </a:p>
          <a:p>
            <a:pPr marL="457200" lvl="1" indent="0">
              <a:buNone/>
            </a:pPr>
            <a:r>
              <a:rPr lang="en-GB" dirty="0"/>
              <a:t>        this-&gt;marks = marks;         // this-&gt;marks = data member, marks = parameter</a:t>
            </a:r>
          </a:p>
          <a:p>
            <a:pPr marL="457200" lvl="1" indent="0">
              <a:buNone/>
            </a:pPr>
            <a:r>
              <a:rPr lang="en-GB" dirty="0"/>
              <a:t>    }</a:t>
            </a:r>
          </a:p>
          <a:p>
            <a:pPr marL="457200" lvl="1" indent="0">
              <a:buNone/>
            </a:pPr>
            <a:r>
              <a:rPr lang="en-GB" dirty="0"/>
              <a:t>    void display() {</a:t>
            </a:r>
          </a:p>
          <a:p>
            <a:pPr marL="457200" lvl="1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"Marks: " &lt;&lt; this-&gt;marks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457200" lvl="1" indent="0">
              <a:buNone/>
            </a:pPr>
            <a:r>
              <a:rPr lang="en-GB" dirty="0"/>
              <a:t>    }		};</a:t>
            </a:r>
          </a:p>
          <a:p>
            <a:r>
              <a:rPr lang="en-GB" dirty="0"/>
              <a:t>Without this-&gt;, writing marks = marks; would just assign the parameter to itself - the data member would stay unchanged (</a:t>
            </a:r>
            <a:r>
              <a:rPr lang="en-GB" b="1" dirty="0"/>
              <a:t>name shadowing</a:t>
            </a:r>
            <a:r>
              <a:rPr lang="en-GB" dirty="0"/>
              <a:t> problem).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3583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1C60-789A-6343-54DD-AE546F54F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chaining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ABFC-1666-7CB1-6123-555D9257E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08"/>
            <a:ext cx="10515600" cy="4981067"/>
          </a:xfrm>
        </p:spPr>
        <p:txBody>
          <a:bodyPr>
            <a:normAutofit fontScale="70000" lnSpcReduction="20000"/>
          </a:bodyPr>
          <a:lstStyle/>
          <a:p>
            <a:r>
              <a:rPr lang="en-GB" sz="4400" dirty="0"/>
              <a:t>A technique that allows you to invoke multiple member functions sequentially on the same object in a single statement.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class Student {</a:t>
            </a:r>
          </a:p>
          <a:p>
            <a:pPr marL="457200" lvl="1" indent="0">
              <a:buNone/>
            </a:pPr>
            <a:r>
              <a:rPr lang="en-GB" dirty="0"/>
              <a:t>    int marks;</a:t>
            </a:r>
          </a:p>
          <a:p>
            <a:pPr marL="457200" lvl="1" indent="0">
              <a:buNone/>
            </a:pPr>
            <a:r>
              <a:rPr lang="en-GB" dirty="0"/>
              <a:t>public:</a:t>
            </a:r>
          </a:p>
          <a:p>
            <a:pPr marL="457200" lvl="1" indent="0">
              <a:buNone/>
            </a:pPr>
            <a:r>
              <a:rPr lang="en-GB" dirty="0"/>
              <a:t>    Student&amp; </a:t>
            </a:r>
            <a:r>
              <a:rPr lang="en-GB" dirty="0" err="1"/>
              <a:t>setMarks</a:t>
            </a:r>
            <a:r>
              <a:rPr lang="en-GB" dirty="0"/>
              <a:t>(int m) {</a:t>
            </a:r>
          </a:p>
          <a:p>
            <a:pPr marL="457200" lvl="1" indent="0">
              <a:buNone/>
            </a:pPr>
            <a:r>
              <a:rPr lang="en-GB" dirty="0"/>
              <a:t>        marks = m;</a:t>
            </a:r>
          </a:p>
          <a:p>
            <a:pPr marL="457200" lvl="1" indent="0">
              <a:buNone/>
            </a:pPr>
            <a:r>
              <a:rPr lang="en-GB" dirty="0"/>
              <a:t>        return *this;    // returns the current object itself</a:t>
            </a:r>
          </a:p>
          <a:p>
            <a:pPr marL="457200" lvl="1" indent="0">
              <a:buNone/>
            </a:pPr>
            <a:r>
              <a:rPr lang="en-GB" dirty="0"/>
              <a:t>    }</a:t>
            </a:r>
          </a:p>
          <a:p>
            <a:pPr marL="457200" lvl="1" indent="0">
              <a:buNone/>
            </a:pPr>
            <a:r>
              <a:rPr lang="en-GB" dirty="0"/>
              <a:t>    Student&amp; </a:t>
            </a:r>
            <a:r>
              <a:rPr lang="en-GB" dirty="0" err="1"/>
              <a:t>showMarks</a:t>
            </a:r>
            <a:r>
              <a:rPr lang="en-GB" dirty="0"/>
              <a:t>() {</a:t>
            </a:r>
          </a:p>
          <a:p>
            <a:pPr marL="457200" lvl="1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marks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457200" lvl="1" indent="0">
              <a:buNone/>
            </a:pPr>
            <a:r>
              <a:rPr lang="en-GB" dirty="0"/>
              <a:t>        return *this;</a:t>
            </a:r>
          </a:p>
          <a:p>
            <a:pPr marL="457200" lvl="1" indent="0">
              <a:buNone/>
            </a:pPr>
            <a:r>
              <a:rPr lang="en-GB" dirty="0"/>
              <a:t>    }	};</a:t>
            </a:r>
          </a:p>
          <a:p>
            <a:pPr marL="457200" lvl="1" indent="0">
              <a:buNone/>
            </a:pPr>
            <a:r>
              <a:rPr lang="en-GB" dirty="0"/>
              <a:t>int main() {</a:t>
            </a:r>
          </a:p>
          <a:p>
            <a:pPr marL="457200" lvl="1" indent="0">
              <a:buNone/>
            </a:pPr>
            <a:r>
              <a:rPr lang="en-GB" dirty="0"/>
              <a:t>    Student s;</a:t>
            </a:r>
          </a:p>
          <a:p>
            <a:pPr marL="457200" lvl="1" indent="0">
              <a:buNone/>
            </a:pPr>
            <a:r>
              <a:rPr lang="en-GB" dirty="0"/>
              <a:t>    </a:t>
            </a:r>
            <a:r>
              <a:rPr lang="en-GB" dirty="0" err="1"/>
              <a:t>s.setMarks</a:t>
            </a:r>
            <a:r>
              <a:rPr lang="en-GB" dirty="0"/>
              <a:t>(90).</a:t>
            </a:r>
            <a:r>
              <a:rPr lang="en-GB" dirty="0" err="1"/>
              <a:t>showMarks</a:t>
            </a:r>
            <a:r>
              <a:rPr lang="en-GB" dirty="0"/>
              <a:t>();   // chained calls, possible because of *this</a:t>
            </a:r>
          </a:p>
          <a:p>
            <a:pPr marL="457200" lvl="1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87701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33DF-5EF9-7DE9-CC6F-BE00C09F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pass current object to another 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7716C-EE02-9681-D063-14FB83A28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Sometimes, inside a member function, you need to pass the </a:t>
            </a:r>
            <a:r>
              <a:rPr lang="en-GB" b="1" dirty="0"/>
              <a:t>current object itself</a:t>
            </a:r>
            <a:r>
              <a:rPr lang="en-GB" dirty="0"/>
              <a:t> to another function (a normal function, or another member function). You do this using this (if the other function expects a pointer) or *this (if it expects a reference/object).</a:t>
            </a:r>
          </a:p>
          <a:p>
            <a:r>
              <a:rPr lang="en-GB" b="1" dirty="0"/>
              <a:t>Real use case:</a:t>
            </a:r>
            <a:r>
              <a:rPr lang="en-GB" dirty="0"/>
              <a:t> This pattern is common when one class needs to hand itself off to a helper/utility function - for example, a Logger function that logs details about "this" object, or a comparison function that needs to compare "this" object against another.</a:t>
            </a:r>
          </a:p>
          <a:p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92676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4BAF-1A3C-72B0-A79B-5E9C0B3F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CBAAA-D680-4274-8670-DE4291489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#include &lt;iostream&gt;</a:t>
            </a:r>
          </a:p>
          <a:p>
            <a:pPr marL="0" indent="0">
              <a:buNone/>
            </a:pPr>
            <a:r>
              <a:rPr lang="en-GB" dirty="0"/>
              <a:t>using namespace std;</a:t>
            </a:r>
          </a:p>
          <a:p>
            <a:pPr marL="0" indent="0">
              <a:buNone/>
            </a:pPr>
            <a:r>
              <a:rPr lang="en-GB" dirty="0"/>
              <a:t>class Student {</a:t>
            </a:r>
          </a:p>
          <a:p>
            <a:pPr marL="0" indent="0">
              <a:buNone/>
            </a:pPr>
            <a:r>
              <a:rPr lang="en-GB" dirty="0"/>
              <a:t>private:</a:t>
            </a:r>
          </a:p>
          <a:p>
            <a:pPr marL="0" indent="0">
              <a:buNone/>
            </a:pPr>
            <a:r>
              <a:rPr lang="en-GB" dirty="0"/>
              <a:t>    string name;	int marks;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Student(string n, int m) {</a:t>
            </a:r>
          </a:p>
          <a:p>
            <a:pPr marL="0" indent="0">
              <a:buNone/>
            </a:pPr>
            <a:r>
              <a:rPr lang="en-GB" dirty="0"/>
              <a:t>        name = n;</a:t>
            </a:r>
          </a:p>
          <a:p>
            <a:pPr marL="0" indent="0">
              <a:buNone/>
            </a:pPr>
            <a:r>
              <a:rPr lang="en-GB" dirty="0"/>
              <a:t>        marks = m;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string </a:t>
            </a:r>
            <a:r>
              <a:rPr lang="en-GB" dirty="0" err="1"/>
              <a:t>getName</a:t>
            </a:r>
            <a:r>
              <a:rPr lang="en-GB" dirty="0"/>
              <a:t>() { return name; }</a:t>
            </a:r>
          </a:p>
          <a:p>
            <a:pPr marL="0" indent="0">
              <a:buNone/>
            </a:pPr>
            <a:r>
              <a:rPr lang="en-GB" dirty="0"/>
              <a:t>    int </a:t>
            </a:r>
            <a:r>
              <a:rPr lang="en-GB" dirty="0" err="1"/>
              <a:t>getMarks</a:t>
            </a:r>
            <a:r>
              <a:rPr lang="en-GB" dirty="0"/>
              <a:t>() { return marks; }</a:t>
            </a:r>
          </a:p>
          <a:p>
            <a:pPr marL="0" indent="0">
              <a:buNone/>
            </a:pPr>
            <a:r>
              <a:rPr lang="en-GB" dirty="0"/>
              <a:t>    void </a:t>
            </a:r>
            <a:r>
              <a:rPr lang="en-GB" dirty="0" err="1"/>
              <a:t>checkStatus</a:t>
            </a:r>
            <a:r>
              <a:rPr lang="en-GB" dirty="0"/>
              <a:t>() {</a:t>
            </a:r>
          </a:p>
          <a:p>
            <a:pPr marL="0" indent="0">
              <a:buNone/>
            </a:pPr>
            <a:r>
              <a:rPr lang="en-GB" dirty="0"/>
              <a:t>        evaluate(this);    </a:t>
            </a:r>
            <a:r>
              <a:rPr lang="en-GB" sz="2200" dirty="0"/>
              <a:t>// passing current object (pointer) to another function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}	};</a:t>
            </a:r>
          </a:p>
          <a:p>
            <a:pPr marL="0" indent="0">
              <a:buNone/>
            </a:pPr>
            <a:r>
              <a:rPr lang="en-GB" dirty="0"/>
              <a:t>// External function that takes a Student pointer</a:t>
            </a:r>
          </a:p>
          <a:p>
            <a:pPr marL="0" indent="0">
              <a:buNone/>
            </a:pPr>
            <a:r>
              <a:rPr lang="en-GB" dirty="0"/>
              <a:t>void evaluate(Student *s) {</a:t>
            </a:r>
          </a:p>
          <a:p>
            <a:pPr marL="0" indent="0">
              <a:buNone/>
            </a:pPr>
            <a:r>
              <a:rPr lang="en-GB" dirty="0"/>
              <a:t>    if (s-&gt;</a:t>
            </a:r>
            <a:r>
              <a:rPr lang="en-GB" dirty="0" err="1"/>
              <a:t>getMarks</a:t>
            </a:r>
            <a:r>
              <a:rPr lang="en-GB" dirty="0"/>
              <a:t>() &gt;= 50)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s-&gt;</a:t>
            </a:r>
            <a:r>
              <a:rPr lang="en-GB" dirty="0" err="1"/>
              <a:t>getName</a:t>
            </a:r>
            <a:r>
              <a:rPr lang="en-GB" dirty="0"/>
              <a:t>() &lt;&lt; " has passed."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else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s-&gt;</a:t>
            </a:r>
            <a:r>
              <a:rPr lang="en-GB" dirty="0" err="1"/>
              <a:t>getName</a:t>
            </a:r>
            <a:r>
              <a:rPr lang="en-GB" dirty="0"/>
              <a:t>() &lt;&lt; " has failed."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Student s1("Ali", 75);</a:t>
            </a:r>
          </a:p>
          <a:p>
            <a:pPr marL="0" indent="0">
              <a:buNone/>
            </a:pPr>
            <a:r>
              <a:rPr lang="en-GB" dirty="0"/>
              <a:t>    s1.checkStatus();    // Ali has passed.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65388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1146</Words>
  <Application>Microsoft Macintosh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Office Theme</vt:lpstr>
      <vt:lpstr>Object-Oriented Programming</vt:lpstr>
      <vt:lpstr>What is const?</vt:lpstr>
      <vt:lpstr>const with Variables</vt:lpstr>
      <vt:lpstr>const with Pointers</vt:lpstr>
      <vt:lpstr>const with Function Parameters </vt:lpstr>
      <vt:lpstr>const Member Functions</vt:lpstr>
      <vt:lpstr>Const Object</vt:lpstr>
      <vt:lpstr>mutable Keyword (Exception to const)</vt:lpstr>
      <vt:lpstr>this Keyword</vt:lpstr>
      <vt:lpstr>Why it's needed:</vt:lpstr>
      <vt:lpstr>Name Shadowing Problem</vt:lpstr>
      <vt:lpstr>Method chaining </vt:lpstr>
      <vt:lpstr>To pass current object to another function</vt:lpstr>
      <vt:lpstr>Example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3</cp:revision>
  <dcterms:created xsi:type="dcterms:W3CDTF">2026-07-17T16:00:13Z</dcterms:created>
  <dcterms:modified xsi:type="dcterms:W3CDTF">2026-07-18T07:26:40Z</dcterms:modified>
</cp:coreProperties>
</file>