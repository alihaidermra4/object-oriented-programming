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73" r:id="rId9"/>
    <p:sldId id="274" r:id="rId10"/>
    <p:sldId id="275" r:id="rId11"/>
    <p:sldId id="276" r:id="rId12"/>
    <p:sldId id="277" r:id="rId13"/>
    <p:sldId id="279" r:id="rId14"/>
    <p:sldId id="278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59"/>
  </p:normalViewPr>
  <p:slideViewPr>
    <p:cSldViewPr snapToGrid="0">
      <p:cViewPr varScale="1">
        <p:scale>
          <a:sx n="81" d="100"/>
          <a:sy n="81" d="100"/>
        </p:scale>
        <p:origin x="21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18/07/2026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Constructor &amp; Destructor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GB" dirty="0"/>
              <a:t>Constructors and destructors are special member functions in C++ that are automatically invoked during the lifecycle of an object. They play an important role in object creation and memory management in OOP.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/>
              <a:t>They help manage the lifecycle of objects.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/>
              <a:t>Widely used for initialization and clean-up operations in C++.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C1A3-ED97-E21C-8A8A-26287B51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F3438-49D1-0B01-F1E6-3B07ACC94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>
                <a:solidFill>
                  <a:srgbClr val="273239"/>
                </a:solidFill>
              </a:rPr>
              <a:t>A constructor</a:t>
            </a:r>
            <a:r>
              <a:rPr lang="en-GB" dirty="0">
                <a:solidFill>
                  <a:srgbClr val="273239"/>
                </a:solidFill>
                <a:effectLst/>
              </a:rPr>
              <a:t> is a special member function that is automatically called when an object of a class is created. It is mainly used to initialize data members of the class.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effectLst/>
              </a:rPr>
              <a:t>Constructor name must be the same as the class name.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effectLst/>
              </a:rPr>
              <a:t>It does not have any return type.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effectLst/>
              </a:rPr>
              <a:t>It is automatically invoked during object creation.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55176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C7DAD-6B6E-6432-F975-55C61E3EC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83CE8-9576-FF66-A98B-92C25AC00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#include &lt;iostream&gt;</a:t>
            </a:r>
          </a:p>
          <a:p>
            <a:pPr marL="0" indent="0">
              <a:buNone/>
            </a:pPr>
            <a:r>
              <a:rPr lang="en-GB" dirty="0"/>
              <a:t>using namespace std;</a:t>
            </a:r>
          </a:p>
          <a:p>
            <a:pPr marL="0" indent="0">
              <a:buNone/>
            </a:pPr>
            <a:r>
              <a:rPr lang="en-GB" dirty="0"/>
              <a:t>class Student{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// Constructor</a:t>
            </a:r>
          </a:p>
          <a:p>
            <a:pPr marL="0" indent="0">
              <a:buNone/>
            </a:pPr>
            <a:r>
              <a:rPr lang="en-GB" dirty="0"/>
              <a:t>    Student() {	</a:t>
            </a:r>
            <a:r>
              <a:rPr lang="en-GB" dirty="0" err="1"/>
              <a:t>cout</a:t>
            </a:r>
            <a:r>
              <a:rPr lang="en-GB" dirty="0"/>
              <a:t> &lt;&lt; "Constructor Called" &lt;&lt; </a:t>
            </a:r>
            <a:r>
              <a:rPr lang="en-GB" dirty="0" err="1"/>
              <a:t>endl</a:t>
            </a:r>
            <a:r>
              <a:rPr lang="en-GB" dirty="0"/>
              <a:t>;		}	</a:t>
            </a:r>
          </a:p>
          <a:p>
            <a:pPr marL="0" indent="0">
              <a:buNone/>
            </a:pPr>
            <a:r>
              <a:rPr lang="en-GB" dirty="0"/>
              <a:t>		};</a:t>
            </a:r>
          </a:p>
          <a:p>
            <a:pPr marL="0" indent="0">
              <a:buNone/>
            </a:pPr>
            <a:r>
              <a:rPr lang="en-GB" dirty="0"/>
              <a:t>int main(){</a:t>
            </a:r>
          </a:p>
          <a:p>
            <a:pPr marL="0" indent="0">
              <a:buNone/>
            </a:pPr>
            <a:r>
              <a:rPr lang="en-GB" dirty="0"/>
              <a:t>    Student s1;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53999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B0CB-72ED-451F-7CDB-1CD9D83F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Destructor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7607D-4A7D-BCDF-8CE3-E2A465277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destructor is a special member function that is automatically called when an object goes out of scope or is destroyed. It is mainly used to free memory and release resources.</a:t>
            </a:r>
          </a:p>
          <a:p>
            <a:r>
              <a:rPr lang="en-GB" dirty="0"/>
              <a:t>Destructor name is same as class name preceded by ~.</a:t>
            </a:r>
          </a:p>
          <a:p>
            <a:r>
              <a:rPr lang="en-GB" dirty="0"/>
              <a:t>It does not take parameters or return any value.</a:t>
            </a:r>
          </a:p>
          <a:p>
            <a:r>
              <a:rPr lang="en-GB" dirty="0"/>
              <a:t>It is automatically called before object destruction.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17412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F8AF-3B22-5448-37F4-456A68AB4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09128-1407-6E6C-6E78-3022B8C8C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#include &lt;iostream&gt;</a:t>
            </a:r>
          </a:p>
          <a:p>
            <a:pPr marL="0" indent="0">
              <a:buNone/>
            </a:pPr>
            <a:r>
              <a:rPr lang="en-GB" dirty="0"/>
              <a:t>using namespace std;</a:t>
            </a:r>
          </a:p>
          <a:p>
            <a:pPr marL="0" indent="0">
              <a:buNone/>
            </a:pPr>
            <a:r>
              <a:rPr lang="en-GB" dirty="0"/>
              <a:t>class Student{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// Constructor</a:t>
            </a:r>
          </a:p>
          <a:p>
            <a:pPr marL="0" indent="0">
              <a:buNone/>
            </a:pPr>
            <a:r>
              <a:rPr lang="en-GB" dirty="0"/>
              <a:t>    Student() {	</a:t>
            </a:r>
            <a:r>
              <a:rPr lang="en-GB" dirty="0" err="1"/>
              <a:t>cout</a:t>
            </a:r>
            <a:r>
              <a:rPr lang="en-GB" dirty="0"/>
              <a:t> &lt;&lt; "Object Created" &lt;&lt; </a:t>
            </a:r>
            <a:r>
              <a:rPr lang="en-GB" dirty="0" err="1"/>
              <a:t>endl</a:t>
            </a:r>
            <a:r>
              <a:rPr lang="en-GB" dirty="0"/>
              <a:t>;	 }</a:t>
            </a:r>
          </a:p>
          <a:p>
            <a:pPr marL="0" indent="0">
              <a:buNone/>
            </a:pPr>
            <a:r>
              <a:rPr lang="en-GB" dirty="0"/>
              <a:t>    // Destructor</a:t>
            </a:r>
          </a:p>
          <a:p>
            <a:pPr marL="0" indent="0">
              <a:buNone/>
            </a:pPr>
            <a:r>
              <a:rPr lang="en-GB" dirty="0"/>
              <a:t>    ~Student() {	  </a:t>
            </a:r>
            <a:r>
              <a:rPr lang="en-GB" dirty="0" err="1"/>
              <a:t>cout</a:t>
            </a:r>
            <a:r>
              <a:rPr lang="en-GB" dirty="0"/>
              <a:t> &lt;&lt; "Destructor Called" &lt;&lt; </a:t>
            </a:r>
            <a:r>
              <a:rPr lang="en-GB" dirty="0" err="1"/>
              <a:t>endl</a:t>
            </a:r>
            <a:r>
              <a:rPr lang="en-GB" dirty="0"/>
              <a:t>;	}</a:t>
            </a:r>
          </a:p>
          <a:p>
            <a:pPr marL="0" indent="0">
              <a:buNone/>
            </a:pPr>
            <a:r>
              <a:rPr lang="en-GB" dirty="0"/>
              <a:t>	};</a:t>
            </a:r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Student s1;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4959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9B50-DB76-ADC0-E144-352BC35C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03B880-1A54-C46F-FA06-944E6987A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539956"/>
              </p:ext>
            </p:extLst>
          </p:nvPr>
        </p:nvGraphicFramePr>
        <p:xfrm>
          <a:off x="838200" y="1825625"/>
          <a:ext cx="10515600" cy="440992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043061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62462775"/>
                    </a:ext>
                  </a:extLst>
                </a:gridCol>
              </a:tblGrid>
              <a:tr h="662113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0" i="0" dirty="0">
                          <a:effectLst/>
                          <a:latin typeface="Times New Roman" panose="02020603050405020304" pitchFamily="18" charset="0"/>
                        </a:rPr>
                        <a:t>Constructor</a:t>
                      </a: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0" i="0" dirty="0">
                          <a:effectLst/>
                          <a:latin typeface="Times New Roman" panose="02020603050405020304" pitchFamily="18" charset="0"/>
                        </a:rPr>
                        <a:t>Destructor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649084280"/>
                  </a:ext>
                </a:extLst>
              </a:tr>
              <a:tr h="74956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Constructor helps to initialize the object of a class.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Whereas destructor is used to destroy the instances.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778957850"/>
                  </a:ext>
                </a:extLst>
              </a:tr>
              <a:tr h="74956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It is declared as </a:t>
                      </a:r>
                      <a:r>
                        <a:rPr lang="en-GB" sz="1400" b="0" i="0" dirty="0" err="1">
                          <a:effectLst/>
                          <a:latin typeface="Times New Roman" panose="02020603050405020304" pitchFamily="18" charset="0"/>
                        </a:rPr>
                        <a:t>className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( arguments if any ){Constructor's Body }.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Whereas it is declared as ~ </a:t>
                      </a:r>
                      <a:r>
                        <a:rPr lang="en-GB" sz="1400" b="0" i="0" dirty="0" err="1">
                          <a:effectLst/>
                          <a:latin typeface="Times New Roman" panose="02020603050405020304" pitchFamily="18" charset="0"/>
                        </a:rPr>
                        <a:t>className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( no arguments ){ }.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667368754"/>
                  </a:ext>
                </a:extLst>
              </a:tr>
              <a:tr h="74956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Constructor can either accept arguments or not.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While it can't have any arguments.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4207585045"/>
                  </a:ext>
                </a:extLst>
              </a:tr>
              <a:tr h="74956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A constructor is called when an instance or object of a class is created.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It is called while object of the class is freed or deleted.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445009301"/>
                  </a:ext>
                </a:extLst>
              </a:tr>
              <a:tr h="74956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Constructor is used to allocate the memory to an instance or object.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While it is used to deallocate the memory of an object of a class.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729728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17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9B50-DB76-ADC0-E144-352BC35C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Comparison Cont.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03B880-1A54-C46F-FA06-944E6987A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8749207"/>
              </p:ext>
            </p:extLst>
          </p:nvPr>
        </p:nvGraphicFramePr>
        <p:xfrm>
          <a:off x="838200" y="1825625"/>
          <a:ext cx="10515600" cy="440992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043061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62462775"/>
                    </a:ext>
                  </a:extLst>
                </a:gridCol>
              </a:tblGrid>
              <a:tr h="662113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0" i="0" dirty="0">
                          <a:effectLst/>
                          <a:latin typeface="Times New Roman" panose="02020603050405020304" pitchFamily="18" charset="0"/>
                        </a:rPr>
                        <a:t>Constructor</a:t>
                      </a: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0" i="0" dirty="0">
                          <a:effectLst/>
                          <a:latin typeface="Times New Roman" panose="02020603050405020304" pitchFamily="18" charset="0"/>
                        </a:rPr>
                        <a:t>Destructor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649084280"/>
                  </a:ext>
                </a:extLst>
              </a:tr>
              <a:tr h="74956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Constructor can be overloaded.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While it can't be overloaded.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778957850"/>
                  </a:ext>
                </a:extLst>
              </a:tr>
              <a:tr h="74956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The constructor's name is same as the class name.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Here, its name is also same as the class name preceded by the tiled (~) operator.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667368754"/>
                  </a:ext>
                </a:extLst>
              </a:tr>
              <a:tr h="74956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In a class, there can be multiple constructors.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While in a class, there is always a single destructor.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4207585045"/>
                  </a:ext>
                </a:extLst>
              </a:tr>
              <a:tr h="74956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There is a concept of copy constructor which is used to initialize an object from another object.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While here, there is no copy destructor concept.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445009301"/>
                  </a:ext>
                </a:extLst>
              </a:tr>
              <a:tr h="74956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They are often called in successive order.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They are often called in reverse order of constructor.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729728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719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F3A5-C3C6-A4F9-B425-363911B6E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Types of Constructors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A8B4B-EDCA-8089-F2A6-40F6D00DA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constructor is a special member function called automatically when an object is created, used to initialize the object. There are 4 main types:</a:t>
            </a:r>
          </a:p>
          <a:p>
            <a:pPr marL="457200" lvl="1" indent="0">
              <a:buNone/>
            </a:pPr>
            <a:r>
              <a:rPr lang="en-GB" sz="2800" dirty="0"/>
              <a:t>1. Default Constructor</a:t>
            </a:r>
          </a:p>
          <a:p>
            <a:pPr marL="457200" lvl="1" indent="0">
              <a:buNone/>
            </a:pPr>
            <a:r>
              <a:rPr lang="en-PK" sz="2800" dirty="0"/>
              <a:t>2. Parameterized Constructor</a:t>
            </a:r>
          </a:p>
          <a:p>
            <a:pPr marL="457200" lvl="1" indent="0">
              <a:buNone/>
            </a:pPr>
            <a:r>
              <a:rPr lang="en-PK" sz="2800" dirty="0"/>
              <a:t>3. Default Parameterized Constructor</a:t>
            </a:r>
          </a:p>
          <a:p>
            <a:pPr marL="457200" lvl="1" indent="0">
              <a:buNone/>
            </a:pPr>
            <a:r>
              <a:rPr lang="en-PK" sz="2800" dirty="0"/>
              <a:t>4. Copy Constructor</a:t>
            </a:r>
          </a:p>
        </p:txBody>
      </p:sp>
    </p:spTree>
    <p:extLst>
      <p:ext uri="{BB962C8B-B14F-4D97-AF65-F5344CB8AC3E}">
        <p14:creationId xmlns:p14="http://schemas.microsoft.com/office/powerpoint/2010/main" val="509702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DB482-D194-77B0-8A1F-2B791309F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Default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6045E-C259-640C-3A19-59FF44721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Takes </a:t>
            </a:r>
            <a:r>
              <a:rPr lang="en-GB" b="1" dirty="0"/>
              <a:t>no parameters</a:t>
            </a:r>
            <a:r>
              <a:rPr lang="en-GB" dirty="0"/>
              <a:t>. If you don't define any constructor, the compiler provides one automatically (does nothing special). Initializes members with default values.</a:t>
            </a:r>
          </a:p>
          <a:p>
            <a:r>
              <a:rPr lang="en-GB" dirty="0"/>
              <a:t>Example:</a:t>
            </a:r>
          </a:p>
          <a:p>
            <a:pPr marL="914400" lvl="2" indent="0">
              <a:buNone/>
            </a:pPr>
            <a:r>
              <a:rPr lang="en-GB" dirty="0"/>
              <a:t>class Student {</a:t>
            </a:r>
          </a:p>
          <a:p>
            <a:pPr marL="914400" lvl="2" indent="0">
              <a:buNone/>
            </a:pPr>
            <a:r>
              <a:rPr lang="en-GB" dirty="0"/>
              <a:t>    string name;</a:t>
            </a:r>
          </a:p>
          <a:p>
            <a:pPr marL="914400" lvl="2" indent="0">
              <a:buNone/>
            </a:pPr>
            <a:r>
              <a:rPr lang="en-GB" dirty="0"/>
              <a:t>public:</a:t>
            </a:r>
          </a:p>
          <a:p>
            <a:pPr marL="914400" lvl="2" indent="0">
              <a:buNone/>
            </a:pPr>
            <a:r>
              <a:rPr lang="en-GB" dirty="0"/>
              <a:t>    Student() {              // default constructor</a:t>
            </a:r>
          </a:p>
          <a:p>
            <a:pPr marL="914400" lvl="2" indent="0">
              <a:buNone/>
            </a:pPr>
            <a:r>
              <a:rPr lang="en-GB" dirty="0"/>
              <a:t>        name = "Unknown";</a:t>
            </a:r>
          </a:p>
          <a:p>
            <a:pPr marL="914400" lvl="2" indent="0">
              <a:buNone/>
            </a:pPr>
            <a:r>
              <a:rPr lang="en-GB" dirty="0"/>
              <a:t>    }</a:t>
            </a:r>
          </a:p>
          <a:p>
            <a:pPr marL="914400" lvl="2" indent="0">
              <a:buNone/>
            </a:pPr>
            <a:r>
              <a:rPr lang="en-GB" dirty="0"/>
              <a:t>};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2406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294A6-A7CB-F38D-92BF-90CEFCF6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Parameterized Constructor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6765-F131-765E-89A1-4D37A8F20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Takes </a:t>
            </a:r>
            <a:r>
              <a:rPr lang="en-GB" b="1" dirty="0"/>
              <a:t>arguments</a:t>
            </a:r>
            <a:r>
              <a:rPr lang="en-GB" dirty="0"/>
              <a:t> to initialize an object with specific values at creation time.</a:t>
            </a:r>
          </a:p>
          <a:p>
            <a:r>
              <a:rPr lang="en-GB" dirty="0"/>
              <a:t>Example:</a:t>
            </a:r>
          </a:p>
          <a:p>
            <a:pPr marL="457200" lvl="1" indent="0">
              <a:buNone/>
            </a:pPr>
            <a:r>
              <a:rPr lang="en-GB" dirty="0"/>
              <a:t>class Student {</a:t>
            </a:r>
          </a:p>
          <a:p>
            <a:pPr marL="457200" lvl="1" indent="0">
              <a:buNone/>
            </a:pPr>
            <a:r>
              <a:rPr lang="en-GB" dirty="0"/>
              <a:t>    string name;	 int marks;</a:t>
            </a:r>
          </a:p>
          <a:p>
            <a:pPr marL="457200" lvl="1" indent="0">
              <a:buNone/>
            </a:pPr>
            <a:r>
              <a:rPr lang="en-GB" dirty="0"/>
              <a:t>public:</a:t>
            </a:r>
          </a:p>
          <a:p>
            <a:pPr marL="457200" lvl="1" indent="0">
              <a:buNone/>
            </a:pPr>
            <a:r>
              <a:rPr lang="en-GB" dirty="0"/>
              <a:t>    Student(string n, int m) {   // parameterized constructor</a:t>
            </a:r>
          </a:p>
          <a:p>
            <a:pPr marL="457200" lvl="1" indent="0">
              <a:buNone/>
            </a:pPr>
            <a:r>
              <a:rPr lang="en-GB" dirty="0"/>
              <a:t>        name = n;</a:t>
            </a:r>
          </a:p>
          <a:p>
            <a:pPr marL="457200" lvl="1" indent="0">
              <a:buNone/>
            </a:pPr>
            <a:r>
              <a:rPr lang="en-GB" dirty="0"/>
              <a:t>        marks = m;</a:t>
            </a:r>
          </a:p>
          <a:p>
            <a:pPr marL="457200" lvl="1" indent="0">
              <a:buNone/>
            </a:pPr>
            <a:r>
              <a:rPr lang="en-GB" dirty="0"/>
              <a:t>    }		};</a:t>
            </a:r>
          </a:p>
          <a:p>
            <a:pPr marL="457200" lvl="1" indent="0">
              <a:buNone/>
            </a:pPr>
            <a:r>
              <a:rPr lang="en-GB" dirty="0"/>
              <a:t>// usage: Student s("Ali", 90);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64251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B83E-77C4-3847-24CB-131A8974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Default Parameterized Constructor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FAA4-45F2-EDC1-B2DC-11E5C2728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constructor with </a:t>
            </a:r>
            <a:r>
              <a:rPr lang="en-GB" b="1" dirty="0"/>
              <a:t>default values</a:t>
            </a:r>
            <a:r>
              <a:rPr lang="en-GB" dirty="0"/>
              <a:t> for parameters, so it can be called with or without arguments.</a:t>
            </a:r>
          </a:p>
          <a:p>
            <a:r>
              <a:rPr lang="en-GB" dirty="0"/>
              <a:t>Example:</a:t>
            </a:r>
          </a:p>
          <a:p>
            <a:pPr marL="914400" lvl="2" indent="0">
              <a:buNone/>
            </a:pPr>
            <a:r>
              <a:rPr lang="en-GB" dirty="0"/>
              <a:t>class Student {</a:t>
            </a:r>
          </a:p>
          <a:p>
            <a:pPr marL="914400" lvl="2" indent="0">
              <a:buNone/>
            </a:pPr>
            <a:r>
              <a:rPr lang="en-GB" dirty="0"/>
              <a:t>    string name;</a:t>
            </a:r>
          </a:p>
          <a:p>
            <a:pPr marL="914400" lvl="2" indent="0">
              <a:buNone/>
            </a:pPr>
            <a:r>
              <a:rPr lang="en-GB" dirty="0"/>
              <a:t>public:</a:t>
            </a:r>
          </a:p>
          <a:p>
            <a:pPr marL="914400" lvl="2" indent="0">
              <a:buNone/>
            </a:pPr>
            <a:r>
              <a:rPr lang="en-GB" dirty="0"/>
              <a:t>    Student(string n = "Unknown") {   // default argument constructor</a:t>
            </a:r>
          </a:p>
          <a:p>
            <a:pPr marL="914400" lvl="2" indent="0">
              <a:buNone/>
            </a:pPr>
            <a:r>
              <a:rPr lang="en-GB" dirty="0"/>
              <a:t>        name = n;</a:t>
            </a:r>
          </a:p>
          <a:p>
            <a:pPr marL="914400" lvl="2" indent="0">
              <a:buNone/>
            </a:pPr>
            <a:r>
              <a:rPr lang="en-GB" dirty="0"/>
              <a:t>    }		};</a:t>
            </a:r>
          </a:p>
          <a:p>
            <a:pPr marL="914400" lvl="2" indent="0">
              <a:buNone/>
            </a:pPr>
            <a:r>
              <a:rPr lang="en-GB" dirty="0"/>
              <a:t>// Student s1;          -&gt; name = "Unknown"</a:t>
            </a:r>
          </a:p>
          <a:p>
            <a:pPr marL="914400" lvl="2" indent="0">
              <a:buNone/>
            </a:pPr>
            <a:r>
              <a:rPr lang="en-GB" dirty="0"/>
              <a:t>// Student s2("Sara");  -&gt; name = "Sara"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74494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2D46-0FA2-03F6-D20F-D63C783DA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Question:</a:t>
            </a:r>
            <a:br>
              <a:rPr lang="en-GB" sz="2800" dirty="0"/>
            </a:br>
            <a:r>
              <a:rPr lang="en-GB" sz="2800" dirty="0"/>
              <a:t>Can a class have multiple constructors at the same time? What's this concept called?</a:t>
            </a:r>
            <a:endParaRPr lang="en-PK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F10F-8F74-9824-E7B8-CEEB1F5A6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Yes - a class can have multiple constructors at the same time, as long as they have different parameter lists (different number or types of parameters).</a:t>
            </a:r>
          </a:p>
          <a:p>
            <a:r>
              <a:rPr lang="en-GB" dirty="0"/>
              <a:t>This concept is called Constructor Overloading - a form of compile-time polymorphism (function overloading applied specifically to constructors). </a:t>
            </a:r>
          </a:p>
          <a:p>
            <a:r>
              <a:rPr lang="en-GB" dirty="0"/>
              <a:t>The compiler decides which constructor to call based on the arguments you pass when creating the object.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10308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8907-EF87-E1E3-6C29-4CCEF3F9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Copy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69D11-4D19-B024-CADA-D6BCC99D2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In next class…</a:t>
            </a:r>
          </a:p>
        </p:txBody>
      </p:sp>
    </p:spTree>
    <p:extLst>
      <p:ext uri="{BB962C8B-B14F-4D97-AF65-F5344CB8AC3E}">
        <p14:creationId xmlns:p14="http://schemas.microsoft.com/office/powerpoint/2010/main" val="724944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893</Words>
  <Application>Microsoft Macintosh PowerPoint</Application>
  <PresentationFormat>Widescreen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Times New Roman</vt:lpstr>
      <vt:lpstr>Office Theme</vt:lpstr>
      <vt:lpstr>Object-Oriented Programming</vt:lpstr>
      <vt:lpstr>Constructor &amp; Destructor</vt:lpstr>
      <vt:lpstr>Constructor</vt:lpstr>
      <vt:lpstr>Example</vt:lpstr>
      <vt:lpstr>Destructor</vt:lpstr>
      <vt:lpstr>Example</vt:lpstr>
      <vt:lpstr>Comparison</vt:lpstr>
      <vt:lpstr>Comparison Cont.</vt:lpstr>
      <vt:lpstr>Types of Constructors</vt:lpstr>
      <vt:lpstr>Default Constructor</vt:lpstr>
      <vt:lpstr>Parameterized Constructor</vt:lpstr>
      <vt:lpstr>Default Parameterized Constructor </vt:lpstr>
      <vt:lpstr>Question: Can a class have multiple constructors at the same time? What's this concept called?</vt:lpstr>
      <vt:lpstr>Copy Constructor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3</cp:revision>
  <dcterms:created xsi:type="dcterms:W3CDTF">2026-07-17T16:00:13Z</dcterms:created>
  <dcterms:modified xsi:type="dcterms:W3CDTF">2026-07-18T05:55:07Z</dcterms:modified>
</cp:coreProperties>
</file>