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70" r:id="rId5"/>
    <p:sldId id="268" r:id="rId6"/>
    <p:sldId id="269" r:id="rId7"/>
    <p:sldId id="271" r:id="rId8"/>
    <p:sldId id="272" r:id="rId9"/>
    <p:sldId id="273" r:id="rId10"/>
    <p:sldId id="274" r:id="rId11"/>
    <p:sldId id="275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8"/>
  </p:normalViewPr>
  <p:slideViewPr>
    <p:cSldViewPr snapToGrid="0">
      <p:cViewPr varScale="1">
        <p:scale>
          <a:sx n="119" d="100"/>
          <a:sy n="119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Object Oriented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“C</a:t>
            </a:r>
            <a:r>
              <a:rPr lang="en-GB" dirty="0"/>
              <a:t>lass and Object are fundamental concepts of OOP, while Encapsulation, Abstraction, Inheritance, and Polymorphism are the four pillars (main principles) of OOP.</a:t>
            </a:r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”</a:t>
            </a:r>
          </a:p>
          <a:p>
            <a:pPr algn="l"/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The four pillars of OOP are the principles/features that OOP is built on:</a:t>
            </a:r>
          </a:p>
          <a:p>
            <a:pPr lvl="1">
              <a:buFont typeface="+mj-lt"/>
              <a:buAutoNum type="arabicPeriod"/>
            </a:pPr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Encapsulation</a:t>
            </a:r>
          </a:p>
          <a:p>
            <a:pPr lvl="1">
              <a:buFont typeface="+mj-lt"/>
              <a:buAutoNum type="arabicPeriod"/>
            </a:pPr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Abstraction</a:t>
            </a:r>
          </a:p>
          <a:p>
            <a:pPr lvl="1">
              <a:buFont typeface="+mj-lt"/>
              <a:buAutoNum type="arabicPeriod"/>
            </a:pPr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Inheritance</a:t>
            </a:r>
          </a:p>
          <a:p>
            <a:pPr lvl="1">
              <a:buFont typeface="+mj-lt"/>
              <a:buAutoNum type="arabicPeriod"/>
            </a:pPr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Polymorphism</a:t>
            </a:r>
          </a:p>
          <a:p>
            <a:pPr lvl="1">
              <a:buFont typeface="+mj-lt"/>
              <a:buAutoNum type="arabicPeriod"/>
            </a:pPr>
            <a:endParaRPr lang="en-GB" dirty="0">
              <a:solidFill>
                <a:srgbClr val="121212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Lets discuss each in detail…	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270BD-6935-B482-A663-4383067EC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21212"/>
                </a:solidFill>
                <a:effectLst/>
                <a:latin typeface="Times New Roman" panose="02020603050405020304" pitchFamily="18" charset="0"/>
              </a:rPr>
              <a:t>Encapsulation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5B58-D386-FACA-8512-81229B88F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Bundling data (attributes) and methods (functions) that operate on that data into a single unit (class), while restricting direct access to the internal details.</a:t>
            </a:r>
          </a:p>
          <a:p>
            <a:r>
              <a:rPr lang="en-GB" b="1" dirty="0"/>
              <a:t>Key idea:</a:t>
            </a:r>
            <a:r>
              <a:rPr lang="en-GB" dirty="0"/>
              <a:t> "Data hiding" - protect an object's internal state from unwanted outside interference or misuse.</a:t>
            </a:r>
          </a:p>
          <a:p>
            <a:r>
              <a:rPr lang="en-GB" b="1" dirty="0"/>
              <a:t>How achieved in C++:</a:t>
            </a:r>
            <a:r>
              <a:rPr lang="en-GB" dirty="0"/>
              <a:t> Using access specifiers (private, protected) + public getters/setters.</a:t>
            </a:r>
          </a:p>
          <a:p>
            <a:r>
              <a:rPr lang="en-GB" b="1" dirty="0"/>
              <a:t>Benefit:</a:t>
            </a:r>
            <a:r>
              <a:rPr lang="en-GB" dirty="0"/>
              <a:t> Prevents invalid data (e.g., negative balance), improves security and maintainability.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2573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F1CB-01FF-A564-0010-FEE16DE9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19923-43CF-4172-52C6-C5BD5C754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class Account {</a:t>
            </a:r>
          </a:p>
          <a:p>
            <a:r>
              <a:rPr lang="en-GB" dirty="0"/>
              <a:t>private:</a:t>
            </a:r>
          </a:p>
          <a:p>
            <a:r>
              <a:rPr lang="en-GB" dirty="0"/>
              <a:t>    double balance;   // hidden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deposit(double amt) { balance += amt; }</a:t>
            </a:r>
          </a:p>
          <a:p>
            <a:r>
              <a:rPr lang="en-GB" dirty="0"/>
              <a:t>    double </a:t>
            </a:r>
            <a:r>
              <a:rPr lang="en-GB" dirty="0" err="1"/>
              <a:t>getBalance</a:t>
            </a:r>
            <a:r>
              <a:rPr lang="en-GB" dirty="0"/>
              <a:t>() { return balance; }</a:t>
            </a:r>
          </a:p>
          <a:p>
            <a:r>
              <a:rPr lang="en-GB" dirty="0"/>
              <a:t>};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8119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979C-3EA0-8AA3-FC65-572178849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Abstraction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ACBD-3273-513E-6693-E003358EA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Definition:</a:t>
            </a:r>
            <a:r>
              <a:rPr lang="en-GB" dirty="0"/>
              <a:t> Showing only the </a:t>
            </a:r>
            <a:r>
              <a:rPr lang="en-GB" b="1" dirty="0"/>
              <a:t>essential features</a:t>
            </a:r>
            <a:r>
              <a:rPr lang="en-GB" dirty="0"/>
              <a:t> of an object while hiding the complex implementation details from the user.</a:t>
            </a:r>
          </a:p>
          <a:p>
            <a:r>
              <a:rPr lang="en-GB" b="1" dirty="0"/>
              <a:t>Key idea:</a:t>
            </a:r>
            <a:r>
              <a:rPr lang="en-GB" dirty="0"/>
              <a:t> "What it does" is visible; "how it does it" is hidden.</a:t>
            </a:r>
          </a:p>
          <a:p>
            <a:r>
              <a:rPr lang="en-GB" b="1" dirty="0"/>
              <a:t>Real-life analogy:</a:t>
            </a:r>
            <a:r>
              <a:rPr lang="en-GB" dirty="0"/>
              <a:t> Driving a car - you use the steering wheel, accelerator, and brake (interface) without knowing the internal engine mechanics (implementation).</a:t>
            </a:r>
          </a:p>
          <a:p>
            <a:r>
              <a:rPr lang="en-GB" b="1" dirty="0"/>
              <a:t>How achieved in C++:</a:t>
            </a:r>
            <a:r>
              <a:rPr lang="en-GB" dirty="0"/>
              <a:t> Abstract classes, interfaces (pure virtual functions).</a:t>
            </a:r>
          </a:p>
          <a:p>
            <a:r>
              <a:rPr lang="en-GB" b="1" dirty="0"/>
              <a:t>Benefit:</a:t>
            </a:r>
            <a:r>
              <a:rPr lang="en-GB" dirty="0"/>
              <a:t> Reduces complexity, focuses user attention only on relevant operations.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0700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AC9CD-CAD5-7DC3-5DF6-7076ACBB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4AC4E-63CC-59DD-DB2B-A8740AE5D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class Shape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virtual double area() = 0;   // abstract method - implementation hidden</a:t>
            </a:r>
          </a:p>
          <a:p>
            <a:r>
              <a:rPr lang="en-GB" dirty="0"/>
              <a:t>};</a:t>
            </a:r>
          </a:p>
          <a:p>
            <a:r>
              <a:rPr lang="en-GB" dirty="0"/>
              <a:t>class Circle : public Shape {</a:t>
            </a:r>
          </a:p>
          <a:p>
            <a:r>
              <a:rPr lang="en-GB" dirty="0"/>
              <a:t>    double radius;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double area() override { return 3.14 * radius * radius; }</a:t>
            </a:r>
          </a:p>
          <a:p>
            <a:r>
              <a:rPr lang="en-GB" dirty="0"/>
              <a:t>};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0815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55C50-83CF-8EAB-94DE-47B770CC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Inheritance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3BE52-3BA2-AA69-29F7-EEB2A354A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A mechanism where a new class (</a:t>
            </a:r>
            <a:r>
              <a:rPr lang="en-GB" b="1" dirty="0"/>
              <a:t>derived/child class</a:t>
            </a:r>
            <a:r>
              <a:rPr lang="en-GB" dirty="0"/>
              <a:t>) acquires the properties and </a:t>
            </a:r>
            <a:r>
              <a:rPr lang="en-GB" dirty="0" err="1"/>
              <a:t>behaviors</a:t>
            </a:r>
            <a:r>
              <a:rPr lang="en-GB" dirty="0"/>
              <a:t> of an existing class (</a:t>
            </a:r>
            <a:r>
              <a:rPr lang="en-GB" b="1" dirty="0"/>
              <a:t>base/parent class</a:t>
            </a:r>
            <a:r>
              <a:rPr lang="en-GB" dirty="0"/>
              <a:t>).</a:t>
            </a:r>
          </a:p>
          <a:p>
            <a:r>
              <a:rPr lang="en-GB" b="1" dirty="0"/>
              <a:t>Key idea:</a:t>
            </a:r>
            <a:r>
              <a:rPr lang="en-GB" dirty="0"/>
              <a:t> "Reusability" - avoid rewriting common code.</a:t>
            </a:r>
          </a:p>
          <a:p>
            <a:r>
              <a:rPr lang="en-GB" b="1" dirty="0"/>
              <a:t>Types:</a:t>
            </a:r>
            <a:r>
              <a:rPr lang="en-GB" dirty="0"/>
              <a:t> Single, Multiple, Multilevel, Hierarchical, Hybrid inheritance.</a:t>
            </a:r>
          </a:p>
          <a:p>
            <a:r>
              <a:rPr lang="en-GB" b="1" dirty="0"/>
              <a:t>Benefit:</a:t>
            </a:r>
            <a:r>
              <a:rPr lang="en-GB" dirty="0"/>
              <a:t> Code reusability, establishes a natural hierarchy ("is-a" relationship, e.g., Dog </a:t>
            </a:r>
            <a:r>
              <a:rPr lang="en-GB" b="1" dirty="0"/>
              <a:t>is an</a:t>
            </a:r>
            <a:r>
              <a:rPr lang="en-GB" dirty="0"/>
              <a:t> Animal).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59674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E211-D69F-1601-849F-E792CEB2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6B2C1-94E6-D91E-D23A-5F92544C8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class Animal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eat() { </a:t>
            </a:r>
            <a:r>
              <a:rPr lang="en-GB" dirty="0" err="1"/>
              <a:t>cout</a:t>
            </a:r>
            <a:r>
              <a:rPr lang="en-GB" dirty="0"/>
              <a:t> &lt;&lt; "Eating..."; }</a:t>
            </a:r>
          </a:p>
          <a:p>
            <a:r>
              <a:rPr lang="en-GB" dirty="0"/>
              <a:t>};</a:t>
            </a:r>
          </a:p>
          <a:p>
            <a:r>
              <a:rPr lang="en-GB" dirty="0"/>
              <a:t>class Dog : public Animal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bark() { </a:t>
            </a:r>
            <a:r>
              <a:rPr lang="en-GB" dirty="0" err="1"/>
              <a:t>cout</a:t>
            </a:r>
            <a:r>
              <a:rPr lang="en-GB" dirty="0"/>
              <a:t> &lt;&lt; "Barking..."; }</a:t>
            </a:r>
          </a:p>
          <a:p>
            <a:r>
              <a:rPr lang="en-GB" dirty="0"/>
              <a:t>};</a:t>
            </a:r>
          </a:p>
          <a:p>
            <a:r>
              <a:rPr lang="en-GB" dirty="0"/>
              <a:t>// Dog object can access both eat() and bark()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6013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778B-2131-B095-5829-4EA0B97C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Polymorphism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E269-4989-73C5-0E2E-5B8535F1E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Definition:</a:t>
            </a:r>
            <a:r>
              <a:rPr lang="en-GB" dirty="0"/>
              <a:t> The ability of a function, object, or operator to take </a:t>
            </a:r>
            <a:r>
              <a:rPr lang="en-GB" b="1" dirty="0"/>
              <a:t>many forms</a:t>
            </a:r>
            <a:r>
              <a:rPr lang="en-GB" dirty="0"/>
              <a:t> - same interface, different underlying behaviour.</a:t>
            </a:r>
          </a:p>
          <a:p>
            <a:r>
              <a:rPr lang="en-GB" b="1" dirty="0"/>
              <a:t>Key idea:</a:t>
            </a:r>
            <a:r>
              <a:rPr lang="en-GB" dirty="0"/>
              <a:t> "One name, many implementations."</a:t>
            </a:r>
          </a:p>
          <a:p>
            <a:r>
              <a:rPr lang="en-GB" b="1" dirty="0"/>
              <a:t>Two types:</a:t>
            </a:r>
            <a:endParaRPr lang="en-GB" dirty="0"/>
          </a:p>
          <a:p>
            <a:pPr lvl="1">
              <a:buFont typeface="+mj-lt"/>
              <a:buAutoNum type="arabicPeriod"/>
            </a:pPr>
            <a:r>
              <a:rPr lang="en-GB" b="1" dirty="0"/>
              <a:t>Compile-time (Static) Polymorphism</a:t>
            </a:r>
            <a:r>
              <a:rPr lang="en-GB" dirty="0"/>
              <a:t> - Function overloading, Operator overloading</a:t>
            </a:r>
          </a:p>
          <a:p>
            <a:pPr lvl="1">
              <a:buFont typeface="+mj-lt"/>
              <a:buAutoNum type="arabicPeriod"/>
            </a:pPr>
            <a:r>
              <a:rPr lang="en-GB" b="1" dirty="0"/>
              <a:t>Run-time (Dynamic) Polymorphism</a:t>
            </a:r>
            <a:r>
              <a:rPr lang="en-GB" dirty="0"/>
              <a:t> - Function overriding, using virtual functions</a:t>
            </a:r>
          </a:p>
          <a:p>
            <a:r>
              <a:rPr lang="en-GB" b="1" dirty="0"/>
              <a:t>Benefit:</a:t>
            </a:r>
            <a:r>
              <a:rPr lang="en-GB" dirty="0"/>
              <a:t> Flexibility and extensibility - same function call behaves differently depending on the object/context.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54037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D6A6-D716-2513-B400-C222618B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3B0BE-2CF6-AB9E-B705-C218CE6F0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PK" dirty="0"/>
              <a:t>Example </a:t>
            </a:r>
            <a:r>
              <a:rPr lang="en-GB" dirty="0"/>
              <a:t>(compile-time - overloading):</a:t>
            </a:r>
            <a:endParaRPr lang="en-PK" dirty="0"/>
          </a:p>
          <a:p>
            <a:pPr marL="457200" lvl="1" indent="0">
              <a:buNone/>
            </a:pPr>
            <a:r>
              <a:rPr lang="en-GB" dirty="0"/>
              <a:t>class Print {</a:t>
            </a:r>
          </a:p>
          <a:p>
            <a:pPr marL="457200" lvl="1" indent="0">
              <a:buNone/>
            </a:pPr>
            <a:r>
              <a:rPr lang="en-GB" dirty="0"/>
              <a:t>public:</a:t>
            </a:r>
          </a:p>
          <a:p>
            <a:pPr marL="457200" lvl="1" indent="0">
              <a:buNone/>
            </a:pPr>
            <a:r>
              <a:rPr lang="en-GB" dirty="0"/>
              <a:t>    void show(int x) { </a:t>
            </a:r>
            <a:r>
              <a:rPr lang="en-GB" dirty="0" err="1"/>
              <a:t>cout</a:t>
            </a:r>
            <a:r>
              <a:rPr lang="en-GB" dirty="0"/>
              <a:t> &lt;&lt; x; }</a:t>
            </a:r>
          </a:p>
          <a:p>
            <a:pPr marL="457200" lvl="1" indent="0">
              <a:buNone/>
            </a:pPr>
            <a:r>
              <a:rPr lang="en-GB" dirty="0"/>
              <a:t>    void show(string s) { </a:t>
            </a:r>
            <a:r>
              <a:rPr lang="en-GB" dirty="0" err="1"/>
              <a:t>cout</a:t>
            </a:r>
            <a:r>
              <a:rPr lang="en-GB" dirty="0"/>
              <a:t> &lt;&lt; s; }</a:t>
            </a:r>
          </a:p>
          <a:p>
            <a:pPr marL="457200" lvl="1" indent="0">
              <a:buNone/>
            </a:pPr>
            <a:r>
              <a:rPr lang="en-GB" dirty="0"/>
              <a:t>};</a:t>
            </a:r>
            <a:endParaRPr lang="en-P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2A85AB-A0AD-9259-1CFC-F2AC9F5897EA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K" dirty="0">
                <a:latin typeface="Times New Roman" panose="02020603050405020304" pitchFamily="18" charset="0"/>
              </a:rPr>
              <a:t>Example </a:t>
            </a:r>
            <a:r>
              <a:rPr lang="en-GB" dirty="0">
                <a:latin typeface="Times New Roman" panose="02020603050405020304" pitchFamily="18" charset="0"/>
              </a:rPr>
              <a:t>(run-time - overriding)</a:t>
            </a:r>
            <a:endParaRPr lang="en-PK" dirty="0">
              <a:latin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class Shape {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public: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    virtual void draw() 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{ </a:t>
            </a:r>
            <a:r>
              <a:rPr lang="en-GB" dirty="0" err="1">
                <a:latin typeface="Times New Roman" panose="02020603050405020304" pitchFamily="18" charset="0"/>
              </a:rPr>
              <a:t>cout</a:t>
            </a:r>
            <a:r>
              <a:rPr lang="en-GB" dirty="0">
                <a:latin typeface="Times New Roman" panose="02020603050405020304" pitchFamily="18" charset="0"/>
              </a:rPr>
              <a:t> &lt;&lt; "Drawing shape"; }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};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class Circle : public Shape {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public: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    void draw() override { </a:t>
            </a:r>
            <a:r>
              <a:rPr lang="en-GB" dirty="0" err="1">
                <a:latin typeface="Times New Roman" panose="02020603050405020304" pitchFamily="18" charset="0"/>
              </a:rPr>
              <a:t>cout</a:t>
            </a:r>
            <a:r>
              <a:rPr lang="en-GB" dirty="0">
                <a:latin typeface="Times New Roman" panose="02020603050405020304" pitchFamily="18" charset="0"/>
              </a:rPr>
              <a:t> &lt;&lt; "Drawing circle"; }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}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Shape *s = new Circle();</a:t>
            </a:r>
          </a:p>
          <a:p>
            <a:pPr marL="457200" lvl="1" indent="0">
              <a:buNone/>
            </a:pPr>
            <a:r>
              <a:rPr lang="en-GB" dirty="0">
                <a:latin typeface="Times New Roman" panose="02020603050405020304" pitchFamily="18" charset="0"/>
              </a:rPr>
              <a:t>s-&gt;draw();   // "Drawing circle" - decided at runtime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84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A44B-F497-7CB0-2937-31A59B96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A15FA3-ADED-A2B2-20CB-45C97EC4A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3345038"/>
              </p:ext>
            </p:extLst>
          </p:nvPr>
        </p:nvGraphicFramePr>
        <p:xfrm>
          <a:off x="838199" y="1825625"/>
          <a:ext cx="10650966" cy="426320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50322">
                  <a:extLst>
                    <a:ext uri="{9D8B030D-6E8A-4147-A177-3AD203B41FA5}">
                      <a16:colId xmlns:a16="http://schemas.microsoft.com/office/drawing/2014/main" val="1701242549"/>
                    </a:ext>
                  </a:extLst>
                </a:gridCol>
                <a:gridCol w="3550322">
                  <a:extLst>
                    <a:ext uri="{9D8B030D-6E8A-4147-A177-3AD203B41FA5}">
                      <a16:colId xmlns:a16="http://schemas.microsoft.com/office/drawing/2014/main" val="4142138849"/>
                    </a:ext>
                  </a:extLst>
                </a:gridCol>
                <a:gridCol w="3550322">
                  <a:extLst>
                    <a:ext uri="{9D8B030D-6E8A-4147-A177-3AD203B41FA5}">
                      <a16:colId xmlns:a16="http://schemas.microsoft.com/office/drawing/2014/main" val="3598326677"/>
                    </a:ext>
                  </a:extLst>
                </a:gridCol>
              </a:tblGrid>
              <a:tr h="593920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Pillar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Core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Real-world Analogy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996611"/>
                  </a:ext>
                </a:extLst>
              </a:tr>
              <a:tr h="1025121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Encapsulation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Hide data, expose controlled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ATM machine - you can't touch the cash directly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8829324"/>
                  </a:ext>
                </a:extLst>
              </a:tr>
              <a:tr h="1025121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Abstraction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Hide complexity, show essentials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Driving a car without knowing engine internals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768335"/>
                  </a:ext>
                </a:extLst>
              </a:tr>
              <a:tr h="593920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Inheritance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Reuse existing class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Child inherits traits from parent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848426"/>
                  </a:ext>
                </a:extLst>
              </a:tr>
              <a:tr h="1025121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Polymorphism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One interface, multiple </a:t>
                      </a:r>
                      <a:r>
                        <a:rPr lang="en-GB" b="0" i="0" dirty="0" err="1">
                          <a:latin typeface="Times New Roman" panose="02020603050405020304" pitchFamily="18" charset="0"/>
                        </a:rPr>
                        <a:t>behaviors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 "print" button works differently for a photo vs a document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363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687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738</Words>
  <Application>Microsoft Macintosh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Object-Oriented Programming</vt:lpstr>
      <vt:lpstr>Object Oriented Programming </vt:lpstr>
      <vt:lpstr>Encapsulation</vt:lpstr>
      <vt:lpstr>Example</vt:lpstr>
      <vt:lpstr>Abstraction</vt:lpstr>
      <vt:lpstr>Example</vt:lpstr>
      <vt:lpstr>Inheritance</vt:lpstr>
      <vt:lpstr>Example</vt:lpstr>
      <vt:lpstr>Polymorphism</vt:lpstr>
      <vt:lpstr>Example</vt:lpstr>
      <vt:lpstr>Summary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2</cp:revision>
  <dcterms:created xsi:type="dcterms:W3CDTF">2026-07-17T16:00:13Z</dcterms:created>
  <dcterms:modified xsi:type="dcterms:W3CDTF">2026-07-18T05:31:16Z</dcterms:modified>
</cp:coreProperties>
</file>