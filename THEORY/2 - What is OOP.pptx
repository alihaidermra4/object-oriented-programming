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8" r:id="rId4"/>
    <p:sldId id="26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8"/>
  </p:normalViewPr>
  <p:slideViewPr>
    <p:cSldViewPr snapToGrid="0">
      <p:cViewPr varScale="1">
        <p:scale>
          <a:sx n="119" d="100"/>
          <a:sy n="119" d="100"/>
        </p:scale>
        <p:origin x="21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17/07/2026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17/07/2026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of the course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course provides  </a:t>
            </a:r>
          </a:p>
          <a:p>
            <a:pPr lvl="1"/>
            <a:r>
              <a:rPr lang="en-US" dirty="0"/>
              <a:t>In depth knowledge of the various concepts of object oriented programming</a:t>
            </a:r>
          </a:p>
          <a:p>
            <a:pPr lvl="1"/>
            <a:r>
              <a:rPr lang="en-US" dirty="0"/>
              <a:t>Implementation of various concepts of Object Oriented Programming in C++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>
              <a:defRPr/>
            </a:pPr>
            <a:r>
              <a:rPr lang="en-US" dirty="0"/>
              <a:t>Text book</a:t>
            </a:r>
          </a:p>
          <a:p>
            <a:pPr lvl="1">
              <a:defRPr/>
            </a:pPr>
            <a:r>
              <a:rPr lang="en-US" dirty="0"/>
              <a:t>C++ How to program by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r>
              <a:rPr lang="en-US" dirty="0"/>
              <a:t> </a:t>
            </a:r>
          </a:p>
          <a:p>
            <a:pPr>
              <a:defRPr/>
            </a:pPr>
            <a:r>
              <a:rPr lang="en-US" dirty="0"/>
              <a:t>Reference books</a:t>
            </a:r>
          </a:p>
          <a:p>
            <a:pPr lvl="1">
              <a:defRPr/>
            </a:pPr>
            <a:r>
              <a:rPr lang="en-US" dirty="0"/>
              <a:t>Waite Group’s Object oriented programming in C++, Robert </a:t>
            </a:r>
            <a:r>
              <a:rPr lang="en-US" dirty="0" err="1"/>
              <a:t>Lafore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51D17-D3B7-7EDF-A92C-610B5A16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CC00E-AA22-0E93-4AEE-D3781014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Class and Object are fundamental concepts of OOP, while Encapsulation, Abstraction, Inheritance, and Polymorphism are the four pillars (main principles) of OOP.</a:t>
            </a:r>
          </a:p>
          <a:p>
            <a:r>
              <a:rPr lang="en-GB" b="1" dirty="0"/>
              <a:t>Class and Object</a:t>
            </a:r>
            <a:r>
              <a:rPr lang="en-GB" dirty="0"/>
              <a:t> are the </a:t>
            </a:r>
            <a:r>
              <a:rPr lang="en-GB" b="1" dirty="0"/>
              <a:t>basic building blocks</a:t>
            </a:r>
            <a:r>
              <a:rPr lang="en-GB" dirty="0"/>
              <a:t> of OOP - they're the foundation you need before you can even talk about the pillars. But they are </a:t>
            </a:r>
            <a:r>
              <a:rPr lang="en-GB" b="1" dirty="0"/>
              <a:t>not</a:t>
            </a:r>
            <a:r>
              <a:rPr lang="en-GB" dirty="0"/>
              <a:t> the pillars themselves.</a:t>
            </a:r>
          </a:p>
          <a:p>
            <a:pPr lvl="1"/>
            <a:r>
              <a:rPr lang="en-GB" b="1" dirty="0"/>
              <a:t>Class</a:t>
            </a:r>
            <a:r>
              <a:rPr lang="en-GB" dirty="0"/>
              <a:t> = a blueprint/template (defines attributes and methods)</a:t>
            </a:r>
          </a:p>
          <a:p>
            <a:pPr lvl="1"/>
            <a:r>
              <a:rPr lang="en-GB" b="1" dirty="0"/>
              <a:t>Object</a:t>
            </a:r>
            <a:r>
              <a:rPr lang="en-GB" dirty="0"/>
              <a:t> = an actual instance created from that class (real entity in memory)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3787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73AC-C6F0-7256-8AD2-E3D82801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DAILY LIFE Examples TO UNDERSTAND BASIC CONCEPTS OF 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B9D8B-1F8F-B155-C40F-44588C692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You are driving a car</a:t>
            </a:r>
          </a:p>
          <a:p>
            <a:r>
              <a:rPr lang="en-US" dirty="0"/>
              <a:t>You can press accelerator pedal to increase the speed.</a:t>
            </a:r>
          </a:p>
          <a:p>
            <a:r>
              <a:rPr lang="en-US" dirty="0"/>
              <a:t>You can press the brake pedal to stop or decrease the speed.</a:t>
            </a:r>
          </a:p>
          <a:p>
            <a:r>
              <a:rPr lang="en-US" dirty="0"/>
              <a:t>You can turn the steering wheel to turn the car left or right</a:t>
            </a:r>
          </a:p>
          <a:p>
            <a:r>
              <a:rPr lang="en-US" dirty="0"/>
              <a:t>Someone has </a:t>
            </a:r>
            <a:r>
              <a:rPr lang="en-US" b="1" i="1" dirty="0"/>
              <a:t>design it</a:t>
            </a:r>
            <a:r>
              <a:rPr lang="en-US" dirty="0"/>
              <a:t> first and then </a:t>
            </a:r>
            <a:r>
              <a:rPr lang="en-US" b="1" i="1" dirty="0"/>
              <a:t>built it</a:t>
            </a:r>
          </a:p>
          <a:p>
            <a:r>
              <a:rPr lang="en-US" dirty="0"/>
              <a:t>Engineering drawings </a:t>
            </a:r>
            <a:r>
              <a:rPr lang="en-US" dirty="0">
                <a:sym typeface="Wingdings" pitchFamily="2" charset="2"/>
              </a:rPr>
              <a:t> car</a:t>
            </a:r>
          </a:p>
          <a:p>
            <a:r>
              <a:rPr lang="en-US" dirty="0"/>
              <a:t>Drawings also includes design for accelerator pedal to make car go faster</a:t>
            </a:r>
          </a:p>
          <a:p>
            <a:r>
              <a:rPr lang="en-US" dirty="0"/>
              <a:t>We can say, pedal “hides” complex mechanism that make the car go faster  </a:t>
            </a:r>
          </a:p>
          <a:p>
            <a:r>
              <a:rPr lang="en-US" dirty="0"/>
              <a:t>The gear lever “hides” the complex internal mechanism of the car to shift gears.</a:t>
            </a:r>
          </a:p>
          <a:p>
            <a:r>
              <a:rPr lang="en-US" dirty="0"/>
              <a:t>The brake pedal “hides” the complex internal mechanism of the car to stop or decrease the speed.</a:t>
            </a:r>
          </a:p>
          <a:p>
            <a:r>
              <a:rPr lang="en-US" dirty="0"/>
              <a:t>The steering wheel “hides” complex mechanism of the car to turn right or left</a:t>
            </a:r>
          </a:p>
        </p:txBody>
      </p:sp>
    </p:spTree>
    <p:extLst>
      <p:ext uri="{BB962C8B-B14F-4D97-AF65-F5344CB8AC3E}">
        <p14:creationId xmlns:p14="http://schemas.microsoft.com/office/powerpoint/2010/main" val="88319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CD071-9E17-F4C2-1208-9F8554247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Brake pedal “hides” the mechanism that slows the car</a:t>
            </a:r>
          </a:p>
          <a:p>
            <a:r>
              <a:rPr lang="en-US" dirty="0"/>
              <a:t>Steering wheel “hides” the mechanism that turn the car and so on</a:t>
            </a:r>
          </a:p>
          <a:p>
            <a:r>
              <a:rPr lang="en-US" dirty="0"/>
              <a:t>Simple “interfaces” like accelerator and brake pedal, steering wheel, transmission shift and etc. allow driver to interact car’s complex internal mechanisms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17917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00D0C-008C-7FC8-FA40-DBB1D1F9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to be noted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B4D2B-C406-BC29-94E6-C91CFD4E2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cannot drive the engineering design of a car</a:t>
            </a:r>
          </a:p>
          <a:p>
            <a:r>
              <a:rPr lang="en-US" dirty="0"/>
              <a:t>Before you can drive a car, it must be built according to engineering design</a:t>
            </a:r>
          </a:p>
          <a:p>
            <a:r>
              <a:rPr lang="en-US" dirty="0"/>
              <a:t>The car will not accelerator on its own, a driver must press the accelerator pedal</a:t>
            </a:r>
          </a:p>
          <a:p>
            <a:r>
              <a:rPr lang="en-US" dirty="0"/>
              <a:t>In simpler words there has to be a car to use its functionalities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68726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F41E-F305-CCEB-3ACC-D2DD3D8CB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05FEE-17A2-C077-F07C-F64E52267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around right now and you'll find many examples of real-world objects: </a:t>
            </a:r>
          </a:p>
          <a:p>
            <a:r>
              <a:rPr lang="en-US" dirty="0"/>
              <a:t>your dog, your desk, your television set, your bicycle.</a:t>
            </a:r>
          </a:p>
          <a:p>
            <a:r>
              <a:rPr lang="en-US" dirty="0"/>
              <a:t>Real-world objects share two characteristics: They all have </a:t>
            </a:r>
          </a:p>
          <a:p>
            <a:pPr lvl="1"/>
            <a:r>
              <a:rPr lang="en-US" b="1" i="1" dirty="0"/>
              <a:t>State</a:t>
            </a:r>
            <a:r>
              <a:rPr lang="en-US" dirty="0"/>
              <a:t> </a:t>
            </a:r>
            <a:r>
              <a:rPr lang="en-US" i="1" dirty="0"/>
              <a:t>and</a:t>
            </a:r>
            <a:endParaRPr lang="en-US" dirty="0"/>
          </a:p>
          <a:p>
            <a:pPr lvl="1"/>
            <a:r>
              <a:rPr lang="en-US" b="1" i="1" dirty="0"/>
              <a:t>Behavior</a:t>
            </a:r>
            <a:r>
              <a:rPr lang="en-US" dirty="0"/>
              <a:t>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3921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EFDC-B187-8D26-3A91-A820B859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9E1CB-E0B7-16BE-9F7E-030988977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Real-world objects vary in complexity</a:t>
            </a:r>
          </a:p>
          <a:p>
            <a:pPr lvl="1"/>
            <a:r>
              <a:rPr lang="en-US" sz="2800" dirty="0"/>
              <a:t>your desktop lamp may have only two possible states (on and off) and two possible behaviors (turn on, turn off), </a:t>
            </a:r>
          </a:p>
          <a:p>
            <a:pPr lvl="1"/>
            <a:r>
              <a:rPr lang="en-US" sz="2800" dirty="0"/>
              <a:t>but your desktop radio might have additional states (on, off, current volume, current station) and behavior (turn on, turn off, increase volume, decrease volume, seek, scan, and tune).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16792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D7FCD-2612-5D3A-1BDF-52EFD448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96456-BEE5-12DE-0913-2F96A12B4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the real world, you'll often find many individual objects all of the same kind</a:t>
            </a:r>
          </a:p>
          <a:p>
            <a:pPr algn="just"/>
            <a:r>
              <a:rPr lang="en-US" dirty="0"/>
              <a:t>There may be thousands of other bicycles in existence, all of the same make and model. </a:t>
            </a:r>
          </a:p>
          <a:p>
            <a:pPr algn="just"/>
            <a:r>
              <a:rPr lang="en-US" dirty="0"/>
              <a:t>Each bicycle was built from the same engineering design and contains the same components.</a:t>
            </a:r>
          </a:p>
          <a:p>
            <a:pPr algn="just"/>
            <a:r>
              <a:rPr lang="en-US" dirty="0"/>
              <a:t>In object-oriented terms, we say that your bicycle is an </a:t>
            </a:r>
            <a:r>
              <a:rPr lang="en-US" i="1" dirty="0"/>
              <a:t>instance</a:t>
            </a:r>
            <a:r>
              <a:rPr lang="en-US" dirty="0"/>
              <a:t> of the </a:t>
            </a:r>
            <a:r>
              <a:rPr lang="en-US" i="1" dirty="0"/>
              <a:t>class of objects </a:t>
            </a:r>
            <a:r>
              <a:rPr lang="en-US" dirty="0"/>
              <a:t>known as bicycles.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22523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3E8E-AC62-0901-B63D-D8BE9C3A8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Class vs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19E71-5665-B0E3-D5B7-3A2207518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is a blue print of an object, which is non-live entity.</a:t>
            </a:r>
          </a:p>
          <a:p>
            <a:r>
              <a:rPr lang="en-US" dirty="0"/>
              <a:t>Object is instance of class, which is a live entity.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Employee is a class </a:t>
            </a:r>
          </a:p>
          <a:p>
            <a:pPr lvl="1"/>
            <a:r>
              <a:rPr lang="en-US" dirty="0"/>
              <a:t>Fruit is a class  </a:t>
            </a:r>
          </a:p>
          <a:p>
            <a:pPr lvl="1"/>
            <a:r>
              <a:rPr lang="en-US" dirty="0"/>
              <a:t>I am an object </a:t>
            </a:r>
          </a:p>
          <a:p>
            <a:pPr lvl="1"/>
            <a:r>
              <a:rPr lang="en-US" dirty="0"/>
              <a:t>apple is an object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96893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95E4-414A-F1E6-8CBC-D797AD79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6494"/>
            <a:ext cx="10515600" cy="1325563"/>
          </a:xfrm>
        </p:spPr>
        <p:txBody>
          <a:bodyPr/>
          <a:lstStyle/>
          <a:p>
            <a:pPr algn="ctr"/>
            <a:r>
              <a:rPr lang="en-PK" dirty="0"/>
              <a:t>POINTS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0ECAE-6B42-AF69-E6DC-E2ABB3017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0783"/>
            <a:ext cx="10515600" cy="4351338"/>
          </a:xfrm>
        </p:spPr>
        <p:txBody>
          <a:bodyPr/>
          <a:lstStyle/>
          <a:p>
            <a:pPr algn="ctr"/>
            <a:r>
              <a:rPr lang="en-US" dirty="0"/>
              <a:t>A class is not a living entity, it is just a engineering design that how an object of this class look like</a:t>
            </a:r>
          </a:p>
          <a:p>
            <a:pPr algn="ctr"/>
            <a:r>
              <a:rPr lang="en-US" dirty="0"/>
              <a:t>Object are living entities</a:t>
            </a:r>
          </a:p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39562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242A-95CE-6798-2624-5D98F318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Struct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5F2CD0B-B766-4BD6-C6DA-003CE1A316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095" y="4301715"/>
            <a:ext cx="2431857" cy="1539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3AA34EB2-056D-D286-38C9-27FFE7A75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673" y="4301715"/>
            <a:ext cx="2999650" cy="144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BC3069-05BE-4888-EF50-6E98F196CC5A}"/>
              </a:ext>
            </a:extLst>
          </p:cNvPr>
          <p:cNvSpPr txBox="1"/>
          <p:nvPr/>
        </p:nvSpPr>
        <p:spPr>
          <a:xfrm>
            <a:off x="1043492" y="1559859"/>
            <a:ext cx="68633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</a:rPr>
              <a:t>A struct in C++ can have constructors, destructors, member functions, access specifiers (private, protected, public), and even support inheritance - essentially everything a class can do. The only difference remains the default access level:</a:t>
            </a:r>
          </a:p>
          <a:p>
            <a:endParaRPr lang="en-GB" dirty="0">
              <a:latin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</a:rPr>
              <a:t>Struct: Public</a:t>
            </a:r>
          </a:p>
          <a:p>
            <a:r>
              <a:rPr lang="en-GB" dirty="0">
                <a:latin typeface="Times New Roman" panose="02020603050405020304" pitchFamily="18" charset="0"/>
              </a:rPr>
              <a:t>Class: Private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54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451F-AA52-9ABE-FAE1-8365AE40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Class and Object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0DFC9D-CE54-35FA-A689-D1AF2C7C82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342" y="1857683"/>
            <a:ext cx="8327315" cy="443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581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8C79-6F32-C0B0-E7BD-73479B4A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Data Member &amp; Member 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3406A-0462-E65E-F358-2887C1B62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b="1" dirty="0"/>
              <a:t>Data Member: </a:t>
            </a:r>
            <a:r>
              <a:rPr lang="en-PK" dirty="0"/>
              <a:t>Also known as Attribute, Feature.</a:t>
            </a:r>
          </a:p>
          <a:p>
            <a:r>
              <a:rPr lang="en-GB" dirty="0"/>
              <a:t>A </a:t>
            </a:r>
            <a:r>
              <a:rPr lang="en-GB" b="1" dirty="0"/>
              <a:t>variable</a:t>
            </a:r>
            <a:r>
              <a:rPr lang="en-GB" dirty="0"/>
              <a:t> declared inside a class that holds the </a:t>
            </a:r>
            <a:r>
              <a:rPr lang="en-GB" b="1" dirty="0"/>
              <a:t>state/properties</a:t>
            </a:r>
            <a:r>
              <a:rPr lang="en-GB" dirty="0"/>
              <a:t> of an object. Represents "what the object </a:t>
            </a:r>
            <a:r>
              <a:rPr lang="en-GB" b="1" dirty="0"/>
              <a:t>has</a:t>
            </a:r>
            <a:r>
              <a:rPr lang="en-GB" dirty="0"/>
              <a:t>.”</a:t>
            </a:r>
            <a:endParaRPr lang="en-PK" dirty="0"/>
          </a:p>
          <a:p>
            <a:r>
              <a:rPr lang="en-GB" b="1" dirty="0"/>
              <a:t>Member Function (Method):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function</a:t>
            </a:r>
            <a:r>
              <a:rPr lang="en-GB" dirty="0"/>
              <a:t> declared inside a class that defines the </a:t>
            </a:r>
            <a:r>
              <a:rPr lang="en-GB" b="1" dirty="0" err="1"/>
              <a:t>behavior</a:t>
            </a:r>
            <a:r>
              <a:rPr lang="en-GB" dirty="0"/>
              <a:t> of an object. Represents "what the object </a:t>
            </a:r>
            <a:r>
              <a:rPr lang="en-GB" b="1" dirty="0"/>
              <a:t>does</a:t>
            </a:r>
            <a:r>
              <a:rPr lang="en-GB" dirty="0"/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Has access to the class's data members directly (no need to pass them as parameters).</a:t>
            </a:r>
          </a:p>
          <a:p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1397379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D853A-5CA2-9D09-6E2B-7478E21D6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C5D99-7EB5-34F6-7CA8-7D5AC0F93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</a:t>
            </a:r>
            <a:r>
              <a:rPr lang="en-GB" b="1" dirty="0"/>
              <a:t>object</a:t>
            </a:r>
            <a:r>
              <a:rPr lang="en-GB" dirty="0"/>
              <a:t> gets its </a:t>
            </a:r>
            <a:r>
              <a:rPr lang="en-GB" b="1" dirty="0"/>
              <a:t>own copy</a:t>
            </a:r>
            <a:r>
              <a:rPr lang="en-GB" dirty="0"/>
              <a:t> of data members (e.g., c1's </a:t>
            </a:r>
            <a:r>
              <a:rPr lang="en-GB" dirty="0" err="1"/>
              <a:t>color</a:t>
            </a:r>
            <a:r>
              <a:rPr lang="en-GB" dirty="0"/>
              <a:t> and speed are separate from another Car object's). </a:t>
            </a:r>
          </a:p>
          <a:p>
            <a:r>
              <a:rPr lang="en-GB" dirty="0"/>
              <a:t>Member functions are </a:t>
            </a:r>
            <a:r>
              <a:rPr lang="en-GB" b="1" dirty="0"/>
              <a:t>shared</a:t>
            </a:r>
            <a:r>
              <a:rPr lang="en-GB" dirty="0"/>
              <a:t> across all objects (not duplicated per object) - they operate on whichever object calls them, via the implicit this pointer. </a:t>
            </a:r>
          </a:p>
          <a:p>
            <a:r>
              <a:rPr lang="en-GB" dirty="0"/>
              <a:t>Data members are typically kept private (encapsulation), and member functions are typically public to provide controlled access - this is where getters/setters come in, which we already covered.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70988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8292-D580-B250-314F-0EF37364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Dot (.) Operator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186B1-061B-9396-C563-73B472088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dot operator</a:t>
            </a:r>
            <a:r>
              <a:rPr lang="en-GB" dirty="0"/>
              <a:t> (.) is used to </a:t>
            </a:r>
            <a:r>
              <a:rPr lang="en-GB" b="1" dirty="0"/>
              <a:t>access members</a:t>
            </a:r>
            <a:r>
              <a:rPr lang="en-GB" dirty="0"/>
              <a:t> (data members and member functions) of an </a:t>
            </a:r>
            <a:r>
              <a:rPr lang="en-GB" b="1" dirty="0"/>
              <a:t>object</a:t>
            </a:r>
            <a:r>
              <a:rPr lang="en-GB" dirty="0"/>
              <a:t> - but only when you have the </a:t>
            </a:r>
            <a:r>
              <a:rPr lang="en-GB" b="1" dirty="0"/>
              <a:t>actual object itself</a:t>
            </a:r>
            <a:r>
              <a:rPr lang="en-GB" dirty="0"/>
              <a:t> (not a pointer to it).</a:t>
            </a:r>
          </a:p>
          <a:p>
            <a:pPr lvl="1"/>
            <a:r>
              <a:rPr lang="en-GB" b="1" dirty="0"/>
              <a:t>Syntax: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sz="2400" dirty="0" err="1"/>
              <a:t>objectName</a:t>
            </a:r>
            <a:r>
              <a:rPr lang="en-GB" sz="2400" dirty="0" err="1">
                <a:solidFill>
                  <a:srgbClr val="2B303B"/>
                </a:solidFill>
                <a:effectLst/>
              </a:rPr>
              <a:t>.</a:t>
            </a:r>
            <a:r>
              <a:rPr lang="en-GB" sz="2400" dirty="0" err="1"/>
              <a:t>memberName</a:t>
            </a:r>
            <a:r>
              <a:rPr lang="en-GB" sz="2400" dirty="0">
                <a:solidFill>
                  <a:srgbClr val="2B303B"/>
                </a:solidFill>
                <a:effectLst/>
              </a:rPr>
              <a:t>;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6E7687"/>
                </a:solidFill>
                <a:effectLst/>
              </a:rPr>
              <a:t>// access data member</a:t>
            </a:r>
            <a:r>
              <a:rPr lang="en-GB" sz="2400" dirty="0"/>
              <a:t> 		</a:t>
            </a:r>
            <a:r>
              <a:rPr lang="en-GB" sz="2400" dirty="0" err="1"/>
              <a:t>objectName</a:t>
            </a:r>
            <a:r>
              <a:rPr lang="en-GB" sz="2400" dirty="0" err="1">
                <a:solidFill>
                  <a:srgbClr val="2B303B"/>
                </a:solidFill>
                <a:effectLst/>
              </a:rPr>
              <a:t>.</a:t>
            </a:r>
            <a:r>
              <a:rPr lang="en-GB" sz="2400" dirty="0" err="1">
                <a:solidFill>
                  <a:srgbClr val="0051C2"/>
                </a:solidFill>
                <a:effectLst/>
              </a:rPr>
              <a:t>functionName</a:t>
            </a:r>
            <a:r>
              <a:rPr lang="en-GB" sz="2400" dirty="0">
                <a:solidFill>
                  <a:srgbClr val="2B303B"/>
                </a:solidFill>
                <a:effectLst/>
              </a:rPr>
              <a:t>();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6E7687"/>
                </a:solidFill>
                <a:effectLst/>
              </a:rPr>
              <a:t>// call member function</a:t>
            </a:r>
            <a:endParaRPr lang="en-GB" sz="2400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80218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968</Words>
  <Application>Microsoft Macintosh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Office Theme</vt:lpstr>
      <vt:lpstr>Object-Oriented Programming</vt:lpstr>
      <vt:lpstr>Aim of the course</vt:lpstr>
      <vt:lpstr>Introduction</vt:lpstr>
      <vt:lpstr>Simple DAILY LIFE Examples TO UNDERSTAND BASIC CONCEPTS OF OOP</vt:lpstr>
      <vt:lpstr>PowerPoint Presentation</vt:lpstr>
      <vt:lpstr>Points to be noted</vt:lpstr>
      <vt:lpstr>Object</vt:lpstr>
      <vt:lpstr>Example</vt:lpstr>
      <vt:lpstr>Class</vt:lpstr>
      <vt:lpstr>Class vs Object</vt:lpstr>
      <vt:lpstr>POINTS TO REMEMBER</vt:lpstr>
      <vt:lpstr>Struct</vt:lpstr>
      <vt:lpstr>Class and Object </vt:lpstr>
      <vt:lpstr>Data Member &amp; Member Function </vt:lpstr>
      <vt:lpstr>Key Points</vt:lpstr>
      <vt:lpstr>The Dot (.) Operator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3</cp:revision>
  <dcterms:created xsi:type="dcterms:W3CDTF">2026-07-17T16:00:13Z</dcterms:created>
  <dcterms:modified xsi:type="dcterms:W3CDTF">2026-07-17T16:46:29Z</dcterms:modified>
</cp:coreProperties>
</file>