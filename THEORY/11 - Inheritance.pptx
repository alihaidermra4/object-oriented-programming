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1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79" r:id="rId22"/>
    <p:sldId id="278" r:id="rId23"/>
    <p:sldId id="280" r:id="rId24"/>
    <p:sldId id="263" r:id="rId25"/>
    <p:sldId id="264" r:id="rId26"/>
    <p:sldId id="265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8"/>
    <p:restoredTop sz="94659"/>
  </p:normalViewPr>
  <p:slideViewPr>
    <p:cSldViewPr snapToGrid="0">
      <p:cViewPr varScale="1">
        <p:scale>
          <a:sx n="105" d="100"/>
          <a:sy n="105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What is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Inheritance is a mechanism where a new class (derived/child class) acquires the properties (data members) and </a:t>
            </a:r>
            <a:r>
              <a:rPr lang="en-GB" dirty="0" err="1"/>
              <a:t>behaviors</a:t>
            </a:r>
            <a:r>
              <a:rPr lang="en-GB" dirty="0"/>
              <a:t> (member functions) of an existing class (base/parent class).</a:t>
            </a:r>
          </a:p>
          <a:p>
            <a:r>
              <a:rPr lang="en-GB" b="1" dirty="0"/>
              <a:t>Key idea:</a:t>
            </a:r>
            <a:r>
              <a:rPr lang="en-GB" dirty="0"/>
              <a:t> "Reusability" - avoid rewriting common code; establishes an "is-a" relationship (e.g., a Dog is an Animal).</a:t>
            </a:r>
          </a:p>
          <a:p>
            <a:r>
              <a:rPr lang="en-GB" dirty="0"/>
              <a:t>Syntax:</a:t>
            </a:r>
          </a:p>
          <a:p>
            <a:pPr marL="457200" lvl="1" indent="0">
              <a:buNone/>
            </a:pPr>
            <a:r>
              <a:rPr lang="en-GB" dirty="0"/>
              <a:t>class Derived : access-specifier Base { </a:t>
            </a:r>
          </a:p>
          <a:p>
            <a:pPr marL="457200" lvl="1" indent="0">
              <a:buNone/>
            </a:pPr>
            <a:r>
              <a:rPr lang="en-GB" dirty="0"/>
              <a:t>// additional members </a:t>
            </a:r>
          </a:p>
          <a:p>
            <a:pPr marL="457200" lvl="1" indent="0">
              <a:buNone/>
            </a:pPr>
            <a:r>
              <a:rPr lang="en-GB" dirty="0"/>
              <a:t>};</a:t>
            </a:r>
            <a:endParaRPr lang="en-PK" dirty="0"/>
          </a:p>
          <a:p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0C85-80CA-4F92-3BF1-1396452F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BC13-360F-D310-DAE5-00F1757A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 numCol="2">
            <a:normAutofit/>
          </a:bodyPr>
          <a:lstStyle/>
          <a:p>
            <a:r>
              <a:rPr lang="en-GB" sz="1800" dirty="0"/>
              <a:t>class Animal {</a:t>
            </a:r>
          </a:p>
          <a:p>
            <a:r>
              <a:rPr lang="en-GB" sz="1800" dirty="0"/>
              <a:t>protected:</a:t>
            </a:r>
          </a:p>
          <a:p>
            <a:r>
              <a:rPr lang="en-GB" sz="1800" dirty="0"/>
              <a:t>    string name;</a:t>
            </a:r>
          </a:p>
          <a:p>
            <a:r>
              <a:rPr lang="en-GB" sz="1800" dirty="0"/>
              <a:t>public:</a:t>
            </a:r>
          </a:p>
          <a:p>
            <a:r>
              <a:rPr lang="en-GB" sz="1800" dirty="0"/>
              <a:t>    Animal(string n) { name = n; }</a:t>
            </a:r>
          </a:p>
          <a:p>
            <a:r>
              <a:rPr lang="en-GB" sz="1800" dirty="0"/>
              <a:t>    void eat() { </a:t>
            </a:r>
            <a:r>
              <a:rPr lang="en-GB" sz="1800" dirty="0" err="1"/>
              <a:t>cout</a:t>
            </a:r>
            <a:r>
              <a:rPr lang="en-GB" sz="1800" dirty="0"/>
              <a:t> &lt;&lt; name &lt;&lt; " is eating."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r>
              <a:rPr lang="en-GB" sz="1800" dirty="0"/>
              <a:t>};</a:t>
            </a:r>
          </a:p>
          <a:p>
            <a:r>
              <a:rPr lang="en-GB" sz="1800" dirty="0"/>
              <a:t>class Dog : public Animal {   // Dog inherits from Animal</a:t>
            </a:r>
          </a:p>
          <a:p>
            <a:r>
              <a:rPr lang="en-GB" sz="1800" dirty="0"/>
              <a:t>public:</a:t>
            </a:r>
          </a:p>
          <a:p>
            <a:r>
              <a:rPr lang="en-GB" sz="1800" dirty="0"/>
              <a:t>    Dog(string n) : Animal(n) { }   // calling base class constructor</a:t>
            </a:r>
          </a:p>
          <a:p>
            <a:r>
              <a:rPr lang="en-GB" sz="1800" dirty="0"/>
              <a:t>    void bark() { </a:t>
            </a:r>
            <a:r>
              <a:rPr lang="en-GB" sz="1800" dirty="0" err="1"/>
              <a:t>cout</a:t>
            </a:r>
            <a:r>
              <a:rPr lang="en-GB" sz="1800" dirty="0"/>
              <a:t> &lt;&lt; name &lt;&lt; " is barking."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r>
              <a:rPr lang="en-GB" sz="1800" dirty="0"/>
              <a:t>};</a:t>
            </a:r>
          </a:p>
          <a:p>
            <a:endParaRPr lang="en-GB" sz="1800" dirty="0"/>
          </a:p>
          <a:p>
            <a:r>
              <a:rPr lang="en-GB" sz="1800" dirty="0"/>
              <a:t>int main() {</a:t>
            </a:r>
          </a:p>
          <a:p>
            <a:r>
              <a:rPr lang="en-GB" sz="1800" dirty="0"/>
              <a:t>    Dog d("Rex");</a:t>
            </a:r>
          </a:p>
          <a:p>
            <a:r>
              <a:rPr lang="en-GB" sz="1800" dirty="0"/>
              <a:t>    </a:t>
            </a:r>
            <a:r>
              <a:rPr lang="en-GB" sz="1800" dirty="0" err="1"/>
              <a:t>d.eat</a:t>
            </a:r>
            <a:r>
              <a:rPr lang="en-GB" sz="1800" dirty="0"/>
              <a:t>();    // inherited from Animal</a:t>
            </a:r>
          </a:p>
          <a:p>
            <a:r>
              <a:rPr lang="en-GB" sz="1800" dirty="0"/>
              <a:t>    </a:t>
            </a:r>
            <a:r>
              <a:rPr lang="en-GB" sz="1800" dirty="0" err="1"/>
              <a:t>d.bark</a:t>
            </a:r>
            <a:r>
              <a:rPr lang="en-GB" sz="1800" dirty="0"/>
              <a:t>();   // Dog's own method</a:t>
            </a:r>
          </a:p>
          <a:p>
            <a:r>
              <a:rPr lang="en-GB" sz="1800" dirty="0"/>
              <a:t>}</a:t>
            </a:r>
            <a:endParaRPr lang="en-PK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D7223-F6DD-F70B-4F2E-293B2066466D}"/>
              </a:ext>
            </a:extLst>
          </p:cNvPr>
          <p:cNvSpPr txBox="1"/>
          <p:nvPr/>
        </p:nvSpPr>
        <p:spPr>
          <a:xfrm>
            <a:off x="2706624" y="5811203"/>
            <a:ext cx="948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Note: Dog gets eat() "for free" from Animal - no need to rewrite it.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46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2D0B-A076-99D6-DAB9-42DEB3CE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Class Constructor Call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B8B66-214A-DD30-9E81-C8BB98B8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a derived object is created, the base class constructor runs first, then the derived class constructor. </a:t>
            </a:r>
          </a:p>
          <a:p>
            <a:r>
              <a:rPr lang="en-GB" dirty="0"/>
              <a:t>You explicitly call the base constructor using an initializer list: Dog(string n) : Animal(n) { } </a:t>
            </a:r>
          </a:p>
          <a:p>
            <a:r>
              <a:rPr lang="en-GB" dirty="0"/>
              <a:t>Destructors run in reverse order - derived class destructor first, then base class destructor.</a:t>
            </a:r>
          </a:p>
          <a:p>
            <a:endParaRPr lang="en-GB" dirty="0"/>
          </a:p>
          <a:p>
            <a:r>
              <a:rPr lang="en-GB" i="1" dirty="0"/>
              <a:t>Show it in CPP file.</a:t>
            </a:r>
            <a:endParaRPr lang="en-PK" i="1" dirty="0"/>
          </a:p>
        </p:txBody>
      </p:sp>
    </p:spTree>
    <p:extLst>
      <p:ext uri="{BB962C8B-B14F-4D97-AF65-F5344CB8AC3E}">
        <p14:creationId xmlns:p14="http://schemas.microsoft.com/office/powerpoint/2010/main" val="361521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626F-3B0C-B995-E2C4-E73625F8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Specifier in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F8206-704C-6706-5BF8-3793F0040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934"/>
            <a:ext cx="10515600" cy="4351338"/>
          </a:xfrm>
        </p:spPr>
        <p:txBody>
          <a:bodyPr/>
          <a:lstStyle/>
          <a:p>
            <a:r>
              <a:rPr lang="en-GB" dirty="0"/>
              <a:t>The access specifier used (public, protected, private) when inheriting controls how base class members are </a:t>
            </a:r>
            <a:r>
              <a:rPr lang="en-GB" b="1" dirty="0"/>
              <a:t>inherited into</a:t>
            </a:r>
            <a:r>
              <a:rPr lang="en-GB" dirty="0"/>
              <a:t> the derived class:</a:t>
            </a:r>
          </a:p>
          <a:p>
            <a:r>
              <a:rPr lang="en-GB" b="1" dirty="0"/>
              <a:t>Most common in practice:</a:t>
            </a:r>
            <a:r>
              <a:rPr lang="en-GB" dirty="0"/>
              <a:t> public inheritance (true "is-a" relationship).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D42930-00F0-8C4D-E53B-A057AAEBA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896892"/>
              </p:ext>
            </p:extLst>
          </p:nvPr>
        </p:nvGraphicFramePr>
        <p:xfrm>
          <a:off x="979424" y="3340227"/>
          <a:ext cx="10233152" cy="281127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58288">
                  <a:extLst>
                    <a:ext uri="{9D8B030D-6E8A-4147-A177-3AD203B41FA5}">
                      <a16:colId xmlns:a16="http://schemas.microsoft.com/office/drawing/2014/main" val="25269483"/>
                    </a:ext>
                  </a:extLst>
                </a:gridCol>
                <a:gridCol w="2558288">
                  <a:extLst>
                    <a:ext uri="{9D8B030D-6E8A-4147-A177-3AD203B41FA5}">
                      <a16:colId xmlns:a16="http://schemas.microsoft.com/office/drawing/2014/main" val="978186726"/>
                    </a:ext>
                  </a:extLst>
                </a:gridCol>
                <a:gridCol w="2558288">
                  <a:extLst>
                    <a:ext uri="{9D8B030D-6E8A-4147-A177-3AD203B41FA5}">
                      <a16:colId xmlns:a16="http://schemas.microsoft.com/office/drawing/2014/main" val="885073352"/>
                    </a:ext>
                  </a:extLst>
                </a:gridCol>
                <a:gridCol w="2558288">
                  <a:extLst>
                    <a:ext uri="{9D8B030D-6E8A-4147-A177-3AD203B41FA5}">
                      <a16:colId xmlns:a16="http://schemas.microsoft.com/office/drawing/2014/main" val="3653822872"/>
                    </a:ext>
                  </a:extLst>
                </a:gridCol>
              </a:tblGrid>
              <a:tr h="70281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Base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public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protected 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private inheritance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20597"/>
                  </a:ext>
                </a:extLst>
              </a:tr>
              <a:tr h="702818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Public</a:t>
                      </a:r>
                    </a:p>
                    <a:p>
                      <a:pPr algn="ctr"/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stays public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stays protected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becomes private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10432"/>
                  </a:ext>
                </a:extLst>
              </a:tr>
              <a:tr h="70281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rotected</a:t>
                      </a:r>
                    </a:p>
                    <a:p>
                      <a:pPr algn="ctr"/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stays protected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stays protected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becomes private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80164"/>
                  </a:ext>
                </a:extLst>
              </a:tr>
              <a:tr h="702818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not accessible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not accessible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not accessible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4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0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D0C1-22D9-5CDB-4B02-F0E682DB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6986"/>
            <a:ext cx="10515600" cy="2852737"/>
          </a:xfrm>
        </p:spPr>
        <p:txBody>
          <a:bodyPr/>
          <a:lstStyle/>
          <a:p>
            <a:r>
              <a:rPr lang="en-GB" dirty="0"/>
              <a:t>Types of Inheritance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329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5B5B-669A-3C5E-0029-63FE0435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E51E-FF59-CFA1-8F89-AAA332C9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68"/>
            <a:ext cx="10515600" cy="4604195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Definition:</a:t>
            </a:r>
            <a:r>
              <a:rPr lang="en-GB" dirty="0"/>
              <a:t> One derived class inherits from </a:t>
            </a:r>
            <a:r>
              <a:rPr lang="en-GB" b="1" dirty="0"/>
              <a:t>exactly one</a:t>
            </a:r>
            <a:r>
              <a:rPr lang="en-GB" dirty="0"/>
              <a:t> base class.</a:t>
            </a:r>
          </a:p>
          <a:p>
            <a:r>
              <a:rPr lang="en-GB" dirty="0"/>
              <a:t>Animal 		Dog</a:t>
            </a:r>
          </a:p>
          <a:p>
            <a:r>
              <a:rPr lang="en-PK" dirty="0"/>
              <a:t>Example:</a:t>
            </a:r>
          </a:p>
          <a:p>
            <a:pPr marL="1371600" lvl="3" indent="0">
              <a:buNone/>
            </a:pPr>
            <a:r>
              <a:rPr lang="en-GB" dirty="0"/>
              <a:t>class Animal {</a:t>
            </a:r>
          </a:p>
          <a:p>
            <a:pPr marL="1371600" lvl="3" indent="0">
              <a:buNone/>
            </a:pPr>
            <a:r>
              <a:rPr lang="en-GB" dirty="0"/>
              <a:t>public:</a:t>
            </a:r>
          </a:p>
          <a:p>
            <a:pPr marL="1371600" lvl="3" indent="0">
              <a:buNone/>
            </a:pPr>
            <a:r>
              <a:rPr lang="en-GB" dirty="0"/>
              <a:t>    void eat() { </a:t>
            </a:r>
            <a:r>
              <a:rPr lang="en-GB" dirty="0" err="1"/>
              <a:t>cout</a:t>
            </a:r>
            <a:r>
              <a:rPr lang="en-GB" dirty="0"/>
              <a:t> &lt;&lt; "Eating..."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1371600" lvl="3" indent="0">
              <a:buNone/>
            </a:pPr>
            <a:r>
              <a:rPr lang="en-GB" dirty="0"/>
              <a:t>};</a:t>
            </a:r>
          </a:p>
          <a:p>
            <a:pPr marL="1371600" lvl="3" indent="0">
              <a:buNone/>
            </a:pPr>
            <a:r>
              <a:rPr lang="en-GB" dirty="0"/>
              <a:t>class Dog : public Animal {</a:t>
            </a:r>
          </a:p>
          <a:p>
            <a:pPr marL="1371600" lvl="3" indent="0">
              <a:buNone/>
            </a:pPr>
            <a:r>
              <a:rPr lang="en-GB" dirty="0"/>
              <a:t>public:</a:t>
            </a:r>
          </a:p>
          <a:p>
            <a:pPr marL="1371600" lvl="3" indent="0">
              <a:buNone/>
            </a:pPr>
            <a:r>
              <a:rPr lang="en-GB" dirty="0"/>
              <a:t>    void bark() { </a:t>
            </a:r>
            <a:r>
              <a:rPr lang="en-GB" dirty="0" err="1"/>
              <a:t>cout</a:t>
            </a:r>
            <a:r>
              <a:rPr lang="en-GB" dirty="0"/>
              <a:t> &lt;&lt; "Barking..."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1371600" lvl="3" indent="0">
              <a:buNone/>
            </a:pPr>
            <a:r>
              <a:rPr lang="en-GB" dirty="0"/>
              <a:t>};</a:t>
            </a:r>
          </a:p>
          <a:p>
            <a:pPr marL="1371600" lvl="3" indent="0">
              <a:buNone/>
            </a:pPr>
            <a:r>
              <a:rPr lang="en-GB" dirty="0"/>
              <a:t>int main() {</a:t>
            </a:r>
          </a:p>
          <a:p>
            <a:pPr marL="1371600" lvl="3" indent="0">
              <a:buNone/>
            </a:pPr>
            <a:r>
              <a:rPr lang="en-GB" dirty="0"/>
              <a:t>    Dog d;</a:t>
            </a:r>
          </a:p>
          <a:p>
            <a:pPr marL="1371600" lvl="3" indent="0">
              <a:buNone/>
            </a:pPr>
            <a:r>
              <a:rPr lang="en-GB" dirty="0"/>
              <a:t>    </a:t>
            </a:r>
            <a:r>
              <a:rPr lang="en-GB" dirty="0" err="1"/>
              <a:t>d.eat</a:t>
            </a:r>
            <a:r>
              <a:rPr lang="en-GB" dirty="0"/>
              <a:t>();    // inherited</a:t>
            </a:r>
          </a:p>
          <a:p>
            <a:pPr marL="1371600" lvl="3" indent="0">
              <a:buNone/>
            </a:pPr>
            <a:r>
              <a:rPr lang="en-GB" dirty="0"/>
              <a:t>    </a:t>
            </a:r>
            <a:r>
              <a:rPr lang="en-GB" dirty="0" err="1"/>
              <a:t>d.bark</a:t>
            </a:r>
            <a:r>
              <a:rPr lang="en-GB" dirty="0"/>
              <a:t>();   // own method</a:t>
            </a:r>
          </a:p>
          <a:p>
            <a:pPr marL="1371600" lvl="3" indent="0">
              <a:buNone/>
            </a:pPr>
            <a:r>
              <a:rPr lang="en-GB" dirty="0"/>
              <a:t>}</a:t>
            </a:r>
            <a:endParaRPr lang="en-P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0E3A01-2BD0-856B-D6C2-F34F487ACD06}"/>
              </a:ext>
            </a:extLst>
          </p:cNvPr>
          <p:cNvCxnSpPr>
            <a:cxnSpLocks/>
          </p:cNvCxnSpPr>
          <p:nvPr/>
        </p:nvCxnSpPr>
        <p:spPr>
          <a:xfrm>
            <a:off x="2206752" y="2145792"/>
            <a:ext cx="13655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03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C0E2-D12D-4F3D-081F-8CDCAB7D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Multilevel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1A486-E17C-9CF0-66EF-C202AA871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A class is derived from a class, which is itself derived from another class - forming a chain (grandparent → parent → child).</a:t>
            </a:r>
          </a:p>
          <a:p>
            <a:pPr marL="0" indent="0" algn="ctr">
              <a:buNone/>
            </a:pPr>
            <a:r>
              <a:rPr lang="en-GB" dirty="0"/>
              <a:t>Animal</a:t>
            </a:r>
          </a:p>
          <a:p>
            <a:pPr marL="0" indent="0" algn="ctr">
              <a:buNone/>
            </a:pPr>
            <a:r>
              <a:rPr lang="en-GB" dirty="0"/>
              <a:t>     |</a:t>
            </a:r>
          </a:p>
          <a:p>
            <a:pPr marL="0" indent="0" algn="ctr">
              <a:buNone/>
            </a:pPr>
            <a:r>
              <a:rPr lang="en-GB" dirty="0"/>
              <a:t>   Mammal</a:t>
            </a:r>
          </a:p>
          <a:p>
            <a:pPr marL="0" indent="0" algn="ctr">
              <a:buNone/>
            </a:pPr>
            <a:r>
              <a:rPr lang="en-GB" dirty="0"/>
              <a:t>     |</a:t>
            </a:r>
          </a:p>
          <a:p>
            <a:pPr marL="0" indent="0" algn="ctr">
              <a:buNone/>
            </a:pPr>
            <a:r>
              <a:rPr lang="en-GB" dirty="0"/>
              <a:t>    Dog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0842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562F-DFD4-2C18-C384-B1A7722D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6D20-B079-8F65-EB37-183CEB9E1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441"/>
            <a:ext cx="10515600" cy="4351338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class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eat() { </a:t>
            </a:r>
            <a:r>
              <a:rPr lang="en-GB" dirty="0" err="1"/>
              <a:t>cout</a:t>
            </a:r>
            <a:r>
              <a:rPr lang="en-GB" dirty="0"/>
              <a:t> &lt;&lt; "Eating..."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Mammal : public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walk() { </a:t>
            </a:r>
            <a:r>
              <a:rPr lang="en-GB" dirty="0" err="1"/>
              <a:t>cout</a:t>
            </a:r>
            <a:r>
              <a:rPr lang="en-GB" dirty="0"/>
              <a:t> &lt;&lt; "Walking..."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Dog : public Mammal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bark() { </a:t>
            </a:r>
            <a:r>
              <a:rPr lang="en-GB" dirty="0" err="1"/>
              <a:t>cout</a:t>
            </a:r>
            <a:r>
              <a:rPr lang="en-GB" dirty="0"/>
              <a:t> &lt;&lt; "Barking..."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Dog d;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d.eat</a:t>
            </a:r>
            <a:r>
              <a:rPr lang="en-GB" dirty="0"/>
              <a:t>();    // from Animal (grandparent)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d.walk</a:t>
            </a:r>
            <a:r>
              <a:rPr lang="en-GB" dirty="0"/>
              <a:t>();   // from Mammal (parent)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d.bark</a:t>
            </a:r>
            <a:r>
              <a:rPr lang="en-GB" dirty="0"/>
              <a:t>();   // own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1F3E0-95E6-E02C-6D70-69130B9DEBAC}"/>
              </a:ext>
            </a:extLst>
          </p:cNvPr>
          <p:cNvSpPr txBox="1"/>
          <p:nvPr/>
        </p:nvSpPr>
        <p:spPr>
          <a:xfrm>
            <a:off x="838200" y="5986272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Key point: Dog gets access to everything in Mammal AND everything Mammal got from Animal - inheritance is transitive.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0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CA0F-C9BB-0A77-6089-21169046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A0FFA-FDBF-5DA5-F5E0-ABA03CBB6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Multiple derived classes inherit from a single base class.</a:t>
            </a:r>
          </a:p>
          <a:p>
            <a:pPr marL="0" indent="0" algn="ctr">
              <a:buNone/>
            </a:pPr>
            <a:r>
              <a:rPr lang="en-GB" dirty="0"/>
              <a:t>  </a:t>
            </a:r>
          </a:p>
          <a:p>
            <a:pPr marL="0" indent="0" algn="ctr">
              <a:buNone/>
            </a:pPr>
            <a:r>
              <a:rPr lang="en-GB" dirty="0"/>
              <a:t>   Animal</a:t>
            </a:r>
          </a:p>
          <a:p>
            <a:pPr marL="0" indent="0" algn="ctr">
              <a:buNone/>
            </a:pPr>
            <a:r>
              <a:rPr lang="en-GB" dirty="0"/>
              <a:t>   /      |      \</a:t>
            </a:r>
          </a:p>
          <a:p>
            <a:pPr marL="0" indent="0" algn="ctr">
              <a:buNone/>
            </a:pPr>
            <a:r>
              <a:rPr lang="en-GB" dirty="0"/>
              <a:t>    Dog   Cat   Bird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8556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2EBB-48D5-1ABC-00A1-D5D3C4A4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F3C87-EF46-BC42-E026-52BD6618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class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eat() { </a:t>
            </a:r>
            <a:r>
              <a:rPr lang="en-GB" dirty="0" err="1"/>
              <a:t>cout</a:t>
            </a:r>
            <a:r>
              <a:rPr lang="en-GB" dirty="0"/>
              <a:t> &lt;&lt; "Eating..."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Dog : public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bark() { </a:t>
            </a:r>
            <a:r>
              <a:rPr lang="en-GB" dirty="0" err="1"/>
              <a:t>cout</a:t>
            </a:r>
            <a:r>
              <a:rPr lang="en-GB" dirty="0"/>
              <a:t> &lt;&lt; "Barking..."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Cat : public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meow() { </a:t>
            </a:r>
            <a:r>
              <a:rPr lang="en-GB" dirty="0" err="1"/>
              <a:t>cout</a:t>
            </a:r>
            <a:r>
              <a:rPr lang="en-GB" dirty="0"/>
              <a:t> &lt;&lt; "Meowing..."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Bird : public Animal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fly() { </a:t>
            </a:r>
            <a:r>
              <a:rPr lang="en-GB" dirty="0" err="1"/>
              <a:t>cout</a:t>
            </a:r>
            <a:r>
              <a:rPr lang="en-GB" dirty="0"/>
              <a:t> &lt;&lt; "Flying..."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Dog d; Cat c; Bird b;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d.eat</a:t>
            </a:r>
            <a:r>
              <a:rPr lang="en-GB" dirty="0"/>
              <a:t>(); </a:t>
            </a:r>
            <a:r>
              <a:rPr lang="en-GB" dirty="0" err="1"/>
              <a:t>d.bark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c.eat</a:t>
            </a:r>
            <a:r>
              <a:rPr lang="en-GB" dirty="0"/>
              <a:t>(); </a:t>
            </a:r>
            <a:r>
              <a:rPr lang="en-GB" dirty="0" err="1"/>
              <a:t>c.meow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b.eat</a:t>
            </a:r>
            <a:r>
              <a:rPr lang="en-GB" dirty="0"/>
              <a:t>(); </a:t>
            </a:r>
            <a:r>
              <a:rPr lang="en-GB" dirty="0" err="1"/>
              <a:t>b.fly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F1733-DFE6-AF33-10D0-A530D6D63205}"/>
              </a:ext>
            </a:extLst>
          </p:cNvPr>
          <p:cNvSpPr txBox="1"/>
          <p:nvPr/>
        </p:nvSpPr>
        <p:spPr>
          <a:xfrm>
            <a:off x="838200" y="584654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Key point: Common </a:t>
            </a:r>
            <a:r>
              <a:rPr lang="en-GB" dirty="0" err="1">
                <a:latin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</a:rPr>
              <a:t> (eat()) is written once in Animal, and reused by all three unrelated derived classes - no duplication.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27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26EA-92EE-AF71-1602-4C10B9E3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9D37B-915C-B85C-8159-155589232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A single derived class inherits from more than one base class simultaneously.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/>
              <a:t>     Father    Mother</a:t>
            </a:r>
          </a:p>
          <a:p>
            <a:pPr marL="0" indent="0" algn="ctr">
              <a:buNone/>
            </a:pPr>
            <a:r>
              <a:rPr lang="en-GB" dirty="0"/>
              <a:t>    \         /</a:t>
            </a:r>
          </a:p>
          <a:p>
            <a:pPr marL="0" indent="0" algn="ctr">
              <a:buNone/>
            </a:pPr>
            <a:r>
              <a:rPr lang="en-GB" dirty="0"/>
              <a:t>     Child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7225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E384-E20E-1857-70DA-2C944C69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D53B-7BA6-89CA-9E66-F67BDC502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class Father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</a:t>
            </a:r>
            <a:r>
              <a:rPr lang="en-GB" dirty="0" err="1"/>
              <a:t>showFather</a:t>
            </a:r>
            <a:r>
              <a:rPr lang="en-GB" dirty="0"/>
              <a:t>() { </a:t>
            </a:r>
            <a:r>
              <a:rPr lang="en-GB" dirty="0" err="1"/>
              <a:t>cout</a:t>
            </a:r>
            <a:r>
              <a:rPr lang="en-GB" dirty="0"/>
              <a:t> &lt;&lt; "Father's trait"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Mother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</a:t>
            </a:r>
            <a:r>
              <a:rPr lang="en-GB" dirty="0" err="1"/>
              <a:t>showMother</a:t>
            </a:r>
            <a:r>
              <a:rPr lang="en-GB" dirty="0"/>
              <a:t>() { </a:t>
            </a:r>
            <a:r>
              <a:rPr lang="en-GB" dirty="0" err="1"/>
              <a:t>cout</a:t>
            </a:r>
            <a:r>
              <a:rPr lang="en-GB" dirty="0"/>
              <a:t> &lt;&lt; "Mother's trait"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Child : public Father, public Mother {   // inherits from BOTH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void </a:t>
            </a:r>
            <a:r>
              <a:rPr lang="en-GB" dirty="0" err="1"/>
              <a:t>showChild</a:t>
            </a:r>
            <a:r>
              <a:rPr lang="en-GB" dirty="0"/>
              <a:t>() { </a:t>
            </a:r>
            <a:r>
              <a:rPr lang="en-GB" dirty="0" err="1"/>
              <a:t>cout</a:t>
            </a:r>
            <a:r>
              <a:rPr lang="en-GB" dirty="0"/>
              <a:t> &lt;&lt; "Child's own trait"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Child c;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c.showFather</a:t>
            </a:r>
            <a:r>
              <a:rPr lang="en-GB" dirty="0"/>
              <a:t>();   // from Father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c.showMother</a:t>
            </a:r>
            <a:r>
              <a:rPr lang="en-GB" dirty="0"/>
              <a:t>();   // from Mother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c.showChild</a:t>
            </a:r>
            <a:r>
              <a:rPr lang="en-GB" dirty="0"/>
              <a:t>();    // own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98540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2D33-8974-1D61-C8CB-ACA0A262C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E153-862D-8BA0-7B19-5E8FE742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Setup:</a:t>
            </a:r>
            <a:r>
              <a:rPr lang="en-GB" dirty="0"/>
              <a:t> Occurs specifically in multiple inheritance, when a class inherits from two classes that both inherit from the same base class - forming a "diamond" shape.</a:t>
            </a:r>
          </a:p>
          <a:p>
            <a:pPr marL="0" indent="0">
              <a:buNone/>
            </a:pPr>
            <a:r>
              <a:rPr lang="en-GB" dirty="0"/>
              <a:t>	  Animal </a:t>
            </a:r>
          </a:p>
          <a:p>
            <a:pPr marL="0" indent="0">
              <a:buNone/>
            </a:pPr>
            <a:r>
              <a:rPr lang="en-GB" dirty="0"/>
              <a:t>	    /   \ </a:t>
            </a:r>
          </a:p>
          <a:p>
            <a:pPr marL="0" indent="0">
              <a:buNone/>
            </a:pPr>
            <a:r>
              <a:rPr lang="en-GB" dirty="0"/>
              <a:t>	Dog  Cat </a:t>
            </a:r>
          </a:p>
          <a:p>
            <a:pPr marL="0" indent="0">
              <a:buNone/>
            </a:pPr>
            <a:r>
              <a:rPr lang="en-GB" dirty="0"/>
              <a:t>	     \   / 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DogCatHybrid</a:t>
            </a:r>
            <a:endParaRPr lang="en-GB" dirty="0"/>
          </a:p>
          <a:p>
            <a:r>
              <a:rPr lang="en-GB" b="1" dirty="0"/>
              <a:t>The problem:</a:t>
            </a:r>
            <a:r>
              <a:rPr lang="en-GB" dirty="0"/>
              <a:t> </a:t>
            </a:r>
            <a:r>
              <a:rPr lang="en-GB" dirty="0" err="1"/>
              <a:t>DogCatHybrid</a:t>
            </a:r>
            <a:r>
              <a:rPr lang="en-GB" dirty="0"/>
              <a:t> ends up with TWO separate copies of Animal - one via Dog, one via Cat. This creates ambiguity.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4514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DCC7-46DE-0084-AAD1-EF0580575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24" y="448769"/>
            <a:ext cx="10628585" cy="5226817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sz="1800" dirty="0"/>
              <a:t>class Animal {</a:t>
            </a:r>
          </a:p>
          <a:p>
            <a:pPr marL="0" indent="0">
              <a:buNone/>
            </a:pPr>
            <a:r>
              <a:rPr lang="en-GB" sz="1800" dirty="0"/>
              <a:t>public:</a:t>
            </a:r>
          </a:p>
          <a:p>
            <a:pPr marL="0" indent="0">
              <a:buNone/>
            </a:pPr>
            <a:r>
              <a:rPr lang="en-GB" sz="1800" dirty="0"/>
              <a:t>    string name;</a:t>
            </a:r>
          </a:p>
          <a:p>
            <a:pPr marL="0" indent="0">
              <a:buNone/>
            </a:pPr>
            <a:r>
              <a:rPr lang="en-GB" sz="1800" dirty="0"/>
              <a:t>    Animal() { </a:t>
            </a:r>
            <a:r>
              <a:rPr lang="en-GB" sz="1800" dirty="0" err="1"/>
              <a:t>cout</a:t>
            </a:r>
            <a:r>
              <a:rPr lang="en-GB" sz="1800" dirty="0"/>
              <a:t> &lt;&lt; "Animal constructor"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pPr marL="0" indent="0">
              <a:buNone/>
            </a:pPr>
            <a:r>
              <a:rPr lang="en-GB" sz="1800" dirty="0"/>
              <a:t>};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class Dog : public Animal {</a:t>
            </a:r>
          </a:p>
          <a:p>
            <a:pPr marL="0" indent="0">
              <a:buNone/>
            </a:pPr>
            <a:r>
              <a:rPr lang="en-GB" sz="1800" dirty="0"/>
              <a:t>public:</a:t>
            </a:r>
          </a:p>
          <a:p>
            <a:pPr marL="0" indent="0">
              <a:buNone/>
            </a:pPr>
            <a:r>
              <a:rPr lang="en-GB" sz="1800" dirty="0"/>
              <a:t>    Dog() { </a:t>
            </a:r>
            <a:r>
              <a:rPr lang="en-GB" sz="1800" dirty="0" err="1"/>
              <a:t>cout</a:t>
            </a:r>
            <a:r>
              <a:rPr lang="en-GB" sz="1800" dirty="0"/>
              <a:t> &lt;&lt; "Dog constructor"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pPr marL="0" indent="0">
              <a:buNone/>
            </a:pPr>
            <a:r>
              <a:rPr lang="en-GB" sz="1800" dirty="0"/>
              <a:t>};</a:t>
            </a:r>
          </a:p>
          <a:p>
            <a:pPr marL="0" indent="0">
              <a:buNone/>
            </a:pPr>
            <a:r>
              <a:rPr lang="en-GB" sz="1800" dirty="0"/>
              <a:t>class Cat : public Animal {</a:t>
            </a:r>
          </a:p>
          <a:p>
            <a:pPr marL="0" indent="0">
              <a:buNone/>
            </a:pPr>
            <a:r>
              <a:rPr lang="en-GB" sz="1800" dirty="0"/>
              <a:t>public:</a:t>
            </a:r>
          </a:p>
          <a:p>
            <a:pPr marL="0" indent="0">
              <a:buNone/>
            </a:pPr>
            <a:r>
              <a:rPr lang="en-GB" sz="1800" dirty="0"/>
              <a:t>    Cat() { </a:t>
            </a:r>
            <a:r>
              <a:rPr lang="en-GB" sz="1800" dirty="0" err="1"/>
              <a:t>cout</a:t>
            </a:r>
            <a:r>
              <a:rPr lang="en-GB" sz="1800" dirty="0"/>
              <a:t> &lt;&lt; "Cat constructor"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pPr marL="0" indent="0">
              <a:buNone/>
            </a:pPr>
            <a:r>
              <a:rPr lang="en-GB" sz="1800" dirty="0"/>
              <a:t>};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class </a:t>
            </a:r>
            <a:r>
              <a:rPr lang="en-GB" sz="1800" dirty="0" err="1"/>
              <a:t>DogCatHybrid</a:t>
            </a:r>
            <a:r>
              <a:rPr lang="en-GB" sz="1800" dirty="0"/>
              <a:t> : public Dog, public Cat {</a:t>
            </a:r>
          </a:p>
          <a:p>
            <a:pPr marL="0" indent="0">
              <a:buNone/>
            </a:pPr>
            <a:r>
              <a:rPr lang="en-GB" sz="1800" dirty="0"/>
              <a:t>public: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DogCatHybrid</a:t>
            </a:r>
            <a:r>
              <a:rPr lang="en-GB" sz="1800" dirty="0"/>
              <a:t>() { </a:t>
            </a:r>
            <a:r>
              <a:rPr lang="en-GB" sz="1800" dirty="0" err="1"/>
              <a:t>cout</a:t>
            </a:r>
            <a:r>
              <a:rPr lang="en-GB" sz="1800" dirty="0"/>
              <a:t> &lt;&lt; "Hybrid constructor" &lt;&lt; </a:t>
            </a:r>
            <a:r>
              <a:rPr lang="en-GB" sz="1800" dirty="0" err="1"/>
              <a:t>endl</a:t>
            </a:r>
            <a:r>
              <a:rPr lang="en-GB" sz="1800" dirty="0"/>
              <a:t>; }</a:t>
            </a:r>
          </a:p>
          <a:p>
            <a:pPr marL="0" indent="0">
              <a:buNone/>
            </a:pPr>
            <a:r>
              <a:rPr lang="en-GB" sz="1800" dirty="0"/>
              <a:t>};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int main() {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DogCatHybrid</a:t>
            </a:r>
            <a:r>
              <a:rPr lang="en-GB" sz="1800" dirty="0"/>
              <a:t> h;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h.name</a:t>
            </a:r>
            <a:r>
              <a:rPr lang="en-GB" sz="1800" dirty="0"/>
              <a:t> = "Rex";   // ERROR - AMBIGUOUS! Which "name"? Dog's Animal::name or Cat's Animal::name?</a:t>
            </a:r>
          </a:p>
          <a:p>
            <a:pPr marL="0" indent="0">
              <a:buNone/>
            </a:pPr>
            <a:r>
              <a:rPr lang="en-GB" sz="1800" dirty="0"/>
              <a:t>}</a:t>
            </a:r>
            <a:endParaRPr lang="en-PK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248E6-A4BC-F43F-7594-8759B8C116DB}"/>
              </a:ext>
            </a:extLst>
          </p:cNvPr>
          <p:cNvSpPr txBox="1"/>
          <p:nvPr/>
        </p:nvSpPr>
        <p:spPr>
          <a:xfrm>
            <a:off x="1345324" y="5559972"/>
            <a:ext cx="9701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Compiler error: request for member 'name' is ambiguous - because there are literally two separate name variables in memory (one inherited through Dog, one through Cat), and the compiler doesn't know which one you mean.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810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E52F-3DB0-3539-5382-12515D578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Output of constructors (without fixing the problem):</a:t>
            </a:r>
            <a:endParaRPr lang="en-GB" dirty="0"/>
          </a:p>
          <a:p>
            <a:pPr marL="457200" lvl="1" indent="0" algn="ctr">
              <a:buNone/>
            </a:pPr>
            <a:r>
              <a:rPr lang="en-GB" dirty="0"/>
              <a:t>Animal constructor (via Dog's path) </a:t>
            </a:r>
          </a:p>
          <a:p>
            <a:pPr marL="457200" lvl="1" indent="0" algn="ctr">
              <a:buNone/>
            </a:pPr>
            <a:r>
              <a:rPr lang="en-GB" dirty="0"/>
              <a:t>Dog constructor </a:t>
            </a:r>
          </a:p>
          <a:p>
            <a:pPr marL="457200" lvl="1" indent="0" algn="ctr">
              <a:buNone/>
            </a:pPr>
            <a:r>
              <a:rPr lang="en-GB" dirty="0"/>
              <a:t>Animal constructor (via Cat's path) </a:t>
            </a:r>
          </a:p>
          <a:p>
            <a:pPr marL="457200" lvl="1" indent="0" algn="ctr">
              <a:buNone/>
            </a:pPr>
            <a:r>
              <a:rPr lang="en-GB" dirty="0"/>
              <a:t>Cat constructor </a:t>
            </a:r>
          </a:p>
          <a:p>
            <a:pPr marL="457200" lvl="1" indent="0" algn="ctr">
              <a:buNone/>
            </a:pPr>
            <a:r>
              <a:rPr lang="en-GB" dirty="0"/>
              <a:t>Hybrid constructor</a:t>
            </a:r>
          </a:p>
          <a:p>
            <a:r>
              <a:rPr lang="en-GB" dirty="0"/>
              <a:t>Notice: Animal's constructor runs TWICE - wasteful and logically wrong, since conceptually there should be only one Animal "core" in a hybrid creature.</a:t>
            </a:r>
          </a:p>
        </p:txBody>
      </p:sp>
    </p:spTree>
    <p:extLst>
      <p:ext uri="{BB962C8B-B14F-4D97-AF65-F5344CB8AC3E}">
        <p14:creationId xmlns:p14="http://schemas.microsoft.com/office/powerpoint/2010/main" val="4049391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2087-E815-6316-E63A-648EF26D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Fix: Virtual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44BB-E24F-28BD-0BDC-C31EE20B4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Solution:</a:t>
            </a:r>
            <a:r>
              <a:rPr lang="en-GB" dirty="0"/>
              <a:t> Declare the inheritance from the common base class as virtual in both intermediate classes (Dog and Cat). This tells the compiler: </a:t>
            </a:r>
            <a:r>
              <a:rPr lang="en-GB" i="1" dirty="0"/>
              <a:t>"Ensure only ONE shared copy of Animal exists, no matter how many paths lead to it."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92401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DC33-4478-A26D-A22E-0EBF1F3B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C0E18-E09E-8259-347C-A0E67417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r>
              <a:rPr lang="en-GB" dirty="0"/>
              <a:t>class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string name;</a:t>
            </a:r>
          </a:p>
          <a:p>
            <a:r>
              <a:rPr lang="en-GB" dirty="0"/>
              <a:t>    Animal() { </a:t>
            </a:r>
            <a:r>
              <a:rPr lang="en-GB" dirty="0" err="1"/>
              <a:t>cout</a:t>
            </a:r>
            <a:r>
              <a:rPr lang="en-GB" dirty="0"/>
              <a:t> &lt;&lt; "Animal constructor"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Dog : virtual public Animal {   // virtual inheritance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Dog() { </a:t>
            </a:r>
            <a:r>
              <a:rPr lang="en-GB" dirty="0" err="1"/>
              <a:t>cout</a:t>
            </a:r>
            <a:r>
              <a:rPr lang="en-GB" dirty="0"/>
              <a:t> &lt;&lt; "Dog constructor"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Cat : virtual public Animal {   // virtual inheritance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Cat() { </a:t>
            </a:r>
            <a:r>
              <a:rPr lang="en-GB" dirty="0" err="1"/>
              <a:t>cout</a:t>
            </a:r>
            <a:r>
              <a:rPr lang="en-GB" dirty="0"/>
              <a:t> &lt;&lt; "Cat constructor"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</a:t>
            </a:r>
            <a:r>
              <a:rPr lang="en-GB" dirty="0" err="1"/>
              <a:t>DogCatHybrid</a:t>
            </a:r>
            <a:r>
              <a:rPr lang="en-GB" dirty="0"/>
              <a:t> : public Dog, public Cat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</a:t>
            </a:r>
            <a:r>
              <a:rPr lang="en-GB" dirty="0" err="1"/>
              <a:t>DogCatHybrid</a:t>
            </a:r>
            <a:r>
              <a:rPr lang="en-GB" dirty="0"/>
              <a:t>() { </a:t>
            </a:r>
            <a:r>
              <a:rPr lang="en-GB" dirty="0" err="1"/>
              <a:t>cout</a:t>
            </a:r>
            <a:r>
              <a:rPr lang="en-GB" dirty="0"/>
              <a:t> &lt;&lt; "Hybrid constructor"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</a:t>
            </a:r>
            <a:r>
              <a:rPr lang="en-GB" dirty="0" err="1"/>
              <a:t>DogCatHybrid</a:t>
            </a:r>
            <a:r>
              <a:rPr lang="en-GB" dirty="0"/>
              <a:t> h;</a:t>
            </a:r>
          </a:p>
          <a:p>
            <a:r>
              <a:rPr lang="en-GB" dirty="0"/>
              <a:t>    </a:t>
            </a:r>
            <a:r>
              <a:rPr lang="en-GB" dirty="0" err="1"/>
              <a:t>h.name</a:t>
            </a:r>
            <a:r>
              <a:rPr lang="en-GB" dirty="0"/>
              <a:t> = "Rex";   // OK now! Only ONE shared copy of Animal exists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</a:t>
            </a:r>
            <a:r>
              <a:rPr lang="en-GB" dirty="0" err="1"/>
              <a:t>h.name</a:t>
            </a:r>
            <a:r>
              <a:rPr lang="en-GB" dirty="0"/>
              <a:t>;   // Rex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1855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7154-F880-FF2E-52EC-D7F19758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FDBCF-CD1E-701B-7EB4-D9DE21D4C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Animal constructor    (only ONCE!)</a:t>
            </a:r>
          </a:p>
          <a:p>
            <a:r>
              <a:rPr lang="en-GB" dirty="0"/>
              <a:t>Dog constructor</a:t>
            </a:r>
          </a:p>
          <a:p>
            <a:r>
              <a:rPr lang="en-GB" dirty="0"/>
              <a:t>Cat constructor</a:t>
            </a:r>
          </a:p>
          <a:p>
            <a:r>
              <a:rPr lang="en-GB" dirty="0"/>
              <a:t>Hybrid constructor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478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D931-5225-5532-9F44-D23C839C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This Matters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173CC-6AAC-9B65-D229-D9BFDDC73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Without virtual, multiple inheritance from a common ancestor creates duplicate, wasteful, ambiguous copies. </a:t>
            </a:r>
          </a:p>
          <a:p>
            <a:r>
              <a:rPr lang="en-GB" dirty="0"/>
              <a:t>virtual inheritance ensures a single shared instance of the common base - matching real-world logic (a hybrid animal has one set of "Animal" core traits, not two). </a:t>
            </a:r>
          </a:p>
          <a:p>
            <a:r>
              <a:rPr lang="en-GB" dirty="0"/>
              <a:t>This is a well-known, classic problem - heavily tested in interviews and OOP courses, and one of the reasons some languages (like Java, C#) disallow multiple inheritance of classes entirely, only allowing it via interfaces.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98869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CB18-0FB0-5DE0-E2BD-B6A1A7D3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Hybrid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CA8FD-314B-D8F4-5EA4-AD7B67AA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A </a:t>
            </a:r>
            <a:r>
              <a:rPr lang="en-GB" b="1" dirty="0"/>
              <a:t>combination of two or more types</a:t>
            </a:r>
            <a:r>
              <a:rPr lang="en-GB" dirty="0"/>
              <a:t> of inheritance above (e.g., Hierarchical + Multiple together).</a:t>
            </a:r>
          </a:p>
          <a:p>
            <a:pPr marL="0" indent="0">
              <a:buNone/>
            </a:pPr>
            <a:r>
              <a:rPr lang="en-GB" dirty="0"/>
              <a:t>      </a:t>
            </a:r>
          </a:p>
          <a:p>
            <a:pPr marL="0" indent="0">
              <a:buNone/>
            </a:pPr>
            <a:r>
              <a:rPr lang="en-GB" dirty="0"/>
              <a:t>      Animal</a:t>
            </a:r>
          </a:p>
          <a:p>
            <a:pPr marL="0" indent="0">
              <a:buNone/>
            </a:pPr>
            <a:r>
              <a:rPr lang="en-GB" dirty="0"/>
              <a:t>       /      \</a:t>
            </a:r>
          </a:p>
          <a:p>
            <a:pPr marL="0" indent="0">
              <a:buNone/>
            </a:pPr>
            <a:r>
              <a:rPr lang="en-GB" dirty="0"/>
              <a:t>    Dog    Cat</a:t>
            </a:r>
          </a:p>
          <a:p>
            <a:pPr marL="0" indent="0">
              <a:buNone/>
            </a:pPr>
            <a:r>
              <a:rPr lang="en-GB" dirty="0"/>
              <a:t>       \      /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DogCatHybrid</a:t>
            </a:r>
            <a:r>
              <a:rPr lang="en-GB" dirty="0"/>
              <a:t>   (multiple + hierarchical combined)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18445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7CB2-10D5-BA13-BEF8-F58578A5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E117-E082-0EB3-414C-343E9C28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673"/>
            <a:ext cx="10515600" cy="4351338"/>
          </a:xfrm>
        </p:spPr>
        <p:txBody>
          <a:bodyPr numCol="2">
            <a:normAutofit fontScale="70000" lnSpcReduction="20000"/>
          </a:bodyPr>
          <a:lstStyle/>
          <a:p>
            <a:r>
              <a:rPr lang="en-GB" dirty="0"/>
              <a:t>class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eat() { </a:t>
            </a:r>
            <a:r>
              <a:rPr lang="en-GB" dirty="0" err="1"/>
              <a:t>cout</a:t>
            </a:r>
            <a:r>
              <a:rPr lang="en-GB" dirty="0"/>
              <a:t> &lt;&lt; "Eating..."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Dog : public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bark() { </a:t>
            </a:r>
            <a:r>
              <a:rPr lang="en-GB" dirty="0" err="1"/>
              <a:t>cout</a:t>
            </a:r>
            <a:r>
              <a:rPr lang="en-GB" dirty="0"/>
              <a:t> &lt;&lt; "Barking..."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Cat : public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meow() { </a:t>
            </a:r>
            <a:r>
              <a:rPr lang="en-GB" dirty="0" err="1"/>
              <a:t>cout</a:t>
            </a:r>
            <a:r>
              <a:rPr lang="en-GB" dirty="0"/>
              <a:t> &lt;&lt; "Meowing..."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// Multiple inheritance from Dog AND Cat (which both trace back to Animal)</a:t>
            </a:r>
          </a:p>
          <a:p>
            <a:r>
              <a:rPr lang="en-GB" dirty="0"/>
              <a:t>class </a:t>
            </a:r>
            <a:r>
              <a:rPr lang="en-GB" dirty="0" err="1"/>
              <a:t>DogCatHybrid</a:t>
            </a:r>
            <a:r>
              <a:rPr lang="en-GB" dirty="0"/>
              <a:t> : public Dog, public Cat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show() { </a:t>
            </a:r>
            <a:r>
              <a:rPr lang="en-GB" dirty="0" err="1"/>
              <a:t>cout</a:t>
            </a:r>
            <a:r>
              <a:rPr lang="en-GB" dirty="0"/>
              <a:t> &lt;&lt; "Hybrid creature"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970AD-1E55-2C77-76AF-53FABFF20231}"/>
              </a:ext>
            </a:extLst>
          </p:cNvPr>
          <p:cNvSpPr txBox="1"/>
          <p:nvPr/>
        </p:nvSpPr>
        <p:spPr>
          <a:xfrm>
            <a:off x="838200" y="5799011"/>
            <a:ext cx="10515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Note: </a:t>
            </a:r>
            <a:r>
              <a:rPr lang="en-GB" sz="1600" dirty="0">
                <a:latin typeface="Times New Roman" panose="02020603050405020304" pitchFamily="18" charset="0"/>
              </a:rPr>
              <a:t>This particular structure actually triggers the Diamond Problem (ambiguous multiple copies of Animal via both Dog and Cat) - a real issue we'll resolve using virtual inheritance when we cover Multiple Inheritance in detail.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65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2A2D-6AC5-22E8-9EA3-4BC8D866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20EBD7-6F14-2E68-8F7A-F8CD50767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138496"/>
              </p:ext>
            </p:extLst>
          </p:nvPr>
        </p:nvGraphicFramePr>
        <p:xfrm>
          <a:off x="838200" y="1690688"/>
          <a:ext cx="10515597" cy="402653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899580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8453392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62584164"/>
                    </a:ext>
                  </a:extLst>
                </a:gridCol>
              </a:tblGrid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Real-Life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164578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Single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One base → one derived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Animal → Dog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76318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Multievel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Chain of inheritance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Animal → Mammal → Dog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250926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Hiearchical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One base → many derived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Animal → Dog, Cat, Bird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225498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Many bases → one derived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Father + Mother → Child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679494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Combination of above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Hierarchical + Multiple mixed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320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09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1813</Words>
  <Application>Microsoft Macintosh PowerPoint</Application>
  <PresentationFormat>Widescreen</PresentationFormat>
  <Paragraphs>297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Office Theme</vt:lpstr>
      <vt:lpstr>Object-Oriented Programming</vt:lpstr>
      <vt:lpstr>What is INHERITANCE</vt:lpstr>
      <vt:lpstr>Example</vt:lpstr>
      <vt:lpstr>Base Class Constructor Call</vt:lpstr>
      <vt:lpstr>Access Specifier in Inheritance</vt:lpstr>
      <vt:lpstr>Types of Inheritance</vt:lpstr>
      <vt:lpstr>Single Inheritance</vt:lpstr>
      <vt:lpstr>Multilevel Inheritance</vt:lpstr>
      <vt:lpstr>Example</vt:lpstr>
      <vt:lpstr>Hierarchical Inheritance</vt:lpstr>
      <vt:lpstr>Example</vt:lpstr>
      <vt:lpstr>Multiple Inheritance</vt:lpstr>
      <vt:lpstr>Example</vt:lpstr>
      <vt:lpstr>Diamond Problem</vt:lpstr>
      <vt:lpstr>PowerPoint Presentation</vt:lpstr>
      <vt:lpstr>PowerPoint Presentation</vt:lpstr>
      <vt:lpstr>The Fix: Virtual Inheritance</vt:lpstr>
      <vt:lpstr>Example</vt:lpstr>
      <vt:lpstr>Output</vt:lpstr>
      <vt:lpstr>Why This Matters</vt:lpstr>
      <vt:lpstr>Hybrid Inheritance</vt:lpstr>
      <vt:lpstr>Example</vt:lpstr>
      <vt:lpstr>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5</cp:revision>
  <dcterms:created xsi:type="dcterms:W3CDTF">2026-07-17T16:00:13Z</dcterms:created>
  <dcterms:modified xsi:type="dcterms:W3CDTF">2026-07-18T17:00:41Z</dcterms:modified>
</cp:coreProperties>
</file>