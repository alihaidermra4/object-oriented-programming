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59"/>
  </p:normalViewPr>
  <p:slideViewPr>
    <p:cSldViewPr snapToGrid="0">
      <p:cViewPr varScale="1">
        <p:scale>
          <a:sx n="105" d="100"/>
          <a:sy n="105" d="100"/>
        </p:scale>
        <p:origin x="6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18/07/2026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483" y="802874"/>
            <a:ext cx="10168569" cy="2387600"/>
          </a:xfrm>
        </p:spPr>
        <p:txBody>
          <a:bodyPr/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Friend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Definition: </a:t>
            </a:r>
            <a:r>
              <a:rPr lang="en-GB" dirty="0"/>
              <a:t>A friend function is a function that is not a member of a class, but is given special permission to access the class's private and protected members directly.</a:t>
            </a:r>
          </a:p>
          <a:p>
            <a:r>
              <a:rPr lang="en-GB" b="1" dirty="0"/>
              <a:t>Key idea: </a:t>
            </a:r>
            <a:r>
              <a:rPr lang="en-GB" dirty="0"/>
              <a:t>Normally, only member functions can access private data. A friend function breaks encapsulation selectively - you explicitly grant one external function (or another class) access, using the friend keyword inside the class.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1D477-C90F-95F6-3773-D1155EE17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70304-47D2-71CD-E93B-36C731DEE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class </a:t>
            </a:r>
            <a:r>
              <a:rPr lang="en-GB" dirty="0" err="1"/>
              <a:t>ClassName</a:t>
            </a:r>
            <a:r>
              <a:rPr lang="en-GB" dirty="0"/>
              <a:t> {</a:t>
            </a:r>
          </a:p>
          <a:p>
            <a:r>
              <a:rPr lang="en-GB" dirty="0"/>
              <a:t>    friend </a:t>
            </a:r>
            <a:r>
              <a:rPr lang="en-GB" dirty="0" err="1"/>
              <a:t>returnType</a:t>
            </a:r>
            <a:r>
              <a:rPr lang="en-GB" dirty="0"/>
              <a:t> </a:t>
            </a:r>
            <a:r>
              <a:rPr lang="en-GB" dirty="0" err="1"/>
              <a:t>functionName</a:t>
            </a:r>
            <a:r>
              <a:rPr lang="en-GB" dirty="0"/>
              <a:t>(parameters);   // declared inside class</a:t>
            </a:r>
          </a:p>
          <a:p>
            <a:r>
              <a:rPr lang="en-GB" dirty="0"/>
              <a:t>};</a:t>
            </a:r>
          </a:p>
          <a:p>
            <a:endParaRPr lang="en-GB" dirty="0"/>
          </a:p>
          <a:p>
            <a:r>
              <a:rPr lang="en-GB" dirty="0"/>
              <a:t>// defined OUTSIDE the class, WITHOUT the friend keyword and WITHOUT :: scope</a:t>
            </a:r>
          </a:p>
          <a:p>
            <a:r>
              <a:rPr lang="en-GB" dirty="0" err="1"/>
              <a:t>returnType</a:t>
            </a:r>
            <a:r>
              <a:rPr lang="en-GB" dirty="0"/>
              <a:t> </a:t>
            </a:r>
            <a:r>
              <a:rPr lang="en-GB" dirty="0" err="1"/>
              <a:t>functionName</a:t>
            </a:r>
            <a:r>
              <a:rPr lang="en-GB" dirty="0"/>
              <a:t>(parameters) {</a:t>
            </a:r>
          </a:p>
          <a:p>
            <a:r>
              <a:rPr lang="en-GB" dirty="0"/>
              <a:t>    // can access private members directly</a:t>
            </a:r>
          </a:p>
          <a:p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25919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D2A8-0B44-1DD5-821A-87192ECC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4B29-7EBE-FF5C-715E-64A044384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#include &lt;iostream&gt;</a:t>
            </a:r>
          </a:p>
          <a:p>
            <a:pPr marL="0" indent="0">
              <a:buNone/>
            </a:pPr>
            <a:r>
              <a:rPr lang="en-GB" dirty="0"/>
              <a:t>using namespace std;</a:t>
            </a:r>
          </a:p>
          <a:p>
            <a:pPr marL="0" indent="0">
              <a:buNone/>
            </a:pPr>
            <a:r>
              <a:rPr lang="en-GB" dirty="0"/>
              <a:t>class Account {</a:t>
            </a:r>
          </a:p>
          <a:p>
            <a:pPr marL="0" indent="0">
              <a:buNone/>
            </a:pPr>
            <a:r>
              <a:rPr lang="en-GB" dirty="0"/>
              <a:t>private:</a:t>
            </a:r>
          </a:p>
          <a:p>
            <a:pPr marL="0" indent="0">
              <a:buNone/>
            </a:pPr>
            <a:r>
              <a:rPr lang="en-GB" dirty="0"/>
              <a:t>    double balance;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Account(double b) { balance = b;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// Declaring a friend function</a:t>
            </a:r>
          </a:p>
          <a:p>
            <a:pPr marL="0" indent="0">
              <a:buNone/>
            </a:pPr>
            <a:r>
              <a:rPr lang="en-GB" dirty="0"/>
              <a:t>    friend void </a:t>
            </a:r>
            <a:r>
              <a:rPr lang="en-GB" dirty="0" err="1"/>
              <a:t>showBalance</a:t>
            </a:r>
            <a:r>
              <a:rPr lang="en-GB" dirty="0"/>
              <a:t>(</a:t>
            </a:r>
            <a:r>
              <a:rPr lang="en-GB" dirty="0" err="1"/>
              <a:t>const</a:t>
            </a:r>
            <a:r>
              <a:rPr lang="en-GB" dirty="0"/>
              <a:t> Account &amp;</a:t>
            </a:r>
            <a:r>
              <a:rPr lang="en-GB" dirty="0" err="1"/>
              <a:t>acc</a:t>
            </a:r>
            <a:r>
              <a:rPr lang="en-GB" dirty="0"/>
              <a:t>);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Defining the friend function - NOT a member, but can access private data</a:t>
            </a:r>
          </a:p>
          <a:p>
            <a:pPr marL="0" indent="0">
              <a:buNone/>
            </a:pPr>
            <a:r>
              <a:rPr lang="en-GB" dirty="0"/>
              <a:t>void </a:t>
            </a:r>
            <a:r>
              <a:rPr lang="en-GB" dirty="0" err="1"/>
              <a:t>showBalance</a:t>
            </a:r>
            <a:r>
              <a:rPr lang="en-GB" dirty="0"/>
              <a:t>(</a:t>
            </a:r>
            <a:r>
              <a:rPr lang="en-GB" dirty="0" err="1"/>
              <a:t>const</a:t>
            </a:r>
            <a:r>
              <a:rPr lang="en-GB" dirty="0"/>
              <a:t> Account &amp;</a:t>
            </a:r>
            <a:r>
              <a:rPr lang="en-GB" dirty="0" err="1"/>
              <a:t>acc</a:t>
            </a:r>
            <a:r>
              <a:rPr lang="en-GB" dirty="0"/>
              <a:t>) {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"Balance: " &lt;&lt; </a:t>
            </a:r>
            <a:r>
              <a:rPr lang="en-GB" dirty="0" err="1"/>
              <a:t>acc.balance</a:t>
            </a:r>
            <a:r>
              <a:rPr lang="en-GB" dirty="0"/>
              <a:t> &lt;&lt; </a:t>
            </a:r>
            <a:r>
              <a:rPr lang="en-GB" dirty="0" err="1"/>
              <a:t>endl</a:t>
            </a:r>
            <a:r>
              <a:rPr lang="en-GB" dirty="0"/>
              <a:t>;   // direct access to private member!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Account a1(5000);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showBalance</a:t>
            </a:r>
            <a:r>
              <a:rPr lang="en-GB" dirty="0"/>
              <a:t>(a1);   // called like a normal function, not with dot operator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40912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703D9-EBAD-9FFB-6370-8642F7D91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Important:</a:t>
            </a:r>
            <a:r>
              <a:rPr lang="en-GB" dirty="0"/>
              <a:t> </a:t>
            </a:r>
            <a:r>
              <a:rPr lang="en-GB" dirty="0" err="1"/>
              <a:t>showBalance</a:t>
            </a:r>
            <a:r>
              <a:rPr lang="en-GB" dirty="0"/>
              <a:t>() is called as </a:t>
            </a:r>
            <a:r>
              <a:rPr lang="en-GB" dirty="0" err="1"/>
              <a:t>showBalance</a:t>
            </a:r>
            <a:r>
              <a:rPr lang="en-GB" dirty="0"/>
              <a:t>(a1); - </a:t>
            </a:r>
            <a:r>
              <a:rPr lang="en-GB" b="1" dirty="0"/>
              <a:t>not</a:t>
            </a:r>
            <a:r>
              <a:rPr lang="en-GB" dirty="0"/>
              <a:t> a1.showBalance(); - because it's </a:t>
            </a:r>
            <a:r>
              <a:rPr lang="en-GB" b="1" dirty="0"/>
              <a:t>not</a:t>
            </a:r>
            <a:r>
              <a:rPr lang="en-GB" dirty="0"/>
              <a:t> a member function of Account. It's just an ordinary function with special access privileges.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91192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5B607-CBEF-4EC5-21C2-CAF793FC6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Friend Functions?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F9ECD-25D1-A910-7970-4E7FEBD21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1. Operating on two different classes' private data:</a:t>
            </a:r>
          </a:p>
          <a:p>
            <a:pPr marL="0" indent="0">
              <a:buNone/>
            </a:pPr>
            <a:r>
              <a:rPr lang="en-GB" dirty="0"/>
              <a:t>A single friend function accesses private members of </a:t>
            </a:r>
            <a:r>
              <a:rPr lang="en-GB" b="1" dirty="0"/>
              <a:t>two separate classes</a:t>
            </a:r>
            <a:r>
              <a:rPr lang="en-GB" dirty="0"/>
              <a:t> - something a regular member function of either class couldn't do alone.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58780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54CD-76FE-BDF5-59B4-F60B7C88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BB616-7C6C-D1AD-CB81-51878680B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pPr marL="0" indent="0">
              <a:buNone/>
            </a:pPr>
            <a:r>
              <a:rPr lang="en-PK" dirty="0"/>
              <a:t> </a:t>
            </a:r>
            <a:r>
              <a:rPr lang="en-GB" dirty="0"/>
              <a:t>class Rectangle;   // forward declaration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Circle {</a:t>
            </a:r>
          </a:p>
          <a:p>
            <a:pPr marL="0" indent="0">
              <a:buNone/>
            </a:pPr>
            <a:r>
              <a:rPr lang="en-GB" dirty="0"/>
              <a:t>    double radius;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Circle(double r) { radius = r; }</a:t>
            </a:r>
          </a:p>
          <a:p>
            <a:pPr marL="0" indent="0">
              <a:buNone/>
            </a:pPr>
            <a:r>
              <a:rPr lang="en-GB" dirty="0"/>
              <a:t>    friend void </a:t>
            </a:r>
            <a:r>
              <a:rPr lang="en-GB" dirty="0" err="1"/>
              <a:t>compareArea</a:t>
            </a:r>
            <a:r>
              <a:rPr lang="en-GB" dirty="0"/>
              <a:t>(</a:t>
            </a:r>
            <a:r>
              <a:rPr lang="en-GB" dirty="0" err="1"/>
              <a:t>const</a:t>
            </a:r>
            <a:r>
              <a:rPr lang="en-GB" dirty="0"/>
              <a:t> Circle &amp;c, </a:t>
            </a:r>
            <a:r>
              <a:rPr lang="en-GB" dirty="0" err="1"/>
              <a:t>const</a:t>
            </a:r>
            <a:r>
              <a:rPr lang="en-GB" dirty="0"/>
              <a:t> Rectangle &amp;r);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r>
              <a:rPr lang="en-GB" dirty="0"/>
              <a:t>class Rectangle {</a:t>
            </a:r>
          </a:p>
          <a:p>
            <a:pPr marL="0" indent="0">
              <a:buNone/>
            </a:pPr>
            <a:r>
              <a:rPr lang="en-GB" dirty="0"/>
              <a:t>    double length, width;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Rectangle(double l, double w) { length = l; width = w; }</a:t>
            </a:r>
          </a:p>
          <a:p>
            <a:pPr marL="0" indent="0">
              <a:buNone/>
            </a:pPr>
            <a:r>
              <a:rPr lang="en-GB" dirty="0"/>
              <a:t>    friend void </a:t>
            </a:r>
            <a:r>
              <a:rPr lang="en-GB" dirty="0" err="1"/>
              <a:t>compareArea</a:t>
            </a:r>
            <a:r>
              <a:rPr lang="en-GB" dirty="0"/>
              <a:t>(</a:t>
            </a:r>
            <a:r>
              <a:rPr lang="en-GB" dirty="0" err="1"/>
              <a:t>const</a:t>
            </a:r>
            <a:r>
              <a:rPr lang="en-GB" dirty="0"/>
              <a:t> Circle &amp;c, </a:t>
            </a:r>
            <a:r>
              <a:rPr lang="en-GB" dirty="0" err="1"/>
              <a:t>const</a:t>
            </a:r>
            <a:r>
              <a:rPr lang="en-GB" dirty="0"/>
              <a:t> Rectangle &amp;r);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void </a:t>
            </a:r>
            <a:r>
              <a:rPr lang="en-GB" dirty="0" err="1"/>
              <a:t>compareArea</a:t>
            </a:r>
            <a:r>
              <a:rPr lang="en-GB" dirty="0"/>
              <a:t>(</a:t>
            </a:r>
            <a:r>
              <a:rPr lang="en-GB" dirty="0" err="1"/>
              <a:t>const</a:t>
            </a:r>
            <a:r>
              <a:rPr lang="en-GB" dirty="0"/>
              <a:t> Circle &amp;c, </a:t>
            </a:r>
            <a:r>
              <a:rPr lang="en-GB" dirty="0" err="1"/>
              <a:t>const</a:t>
            </a:r>
            <a:r>
              <a:rPr lang="en-GB" dirty="0"/>
              <a:t> Rectangle &amp;r) {</a:t>
            </a:r>
          </a:p>
          <a:p>
            <a:pPr marL="0" indent="0">
              <a:buNone/>
            </a:pPr>
            <a:r>
              <a:rPr lang="en-GB" dirty="0"/>
              <a:t>    double </a:t>
            </a:r>
            <a:r>
              <a:rPr lang="en-GB" dirty="0" err="1"/>
              <a:t>circleArea</a:t>
            </a:r>
            <a:r>
              <a:rPr lang="en-GB" dirty="0"/>
              <a:t> = 3.14 * </a:t>
            </a:r>
            <a:r>
              <a:rPr lang="en-GB" dirty="0" err="1"/>
              <a:t>c.radius</a:t>
            </a:r>
            <a:r>
              <a:rPr lang="en-GB" dirty="0"/>
              <a:t> * </a:t>
            </a:r>
            <a:r>
              <a:rPr lang="en-GB" dirty="0" err="1"/>
              <a:t>c.radius</a:t>
            </a:r>
            <a:r>
              <a:rPr lang="en-GB" dirty="0"/>
              <a:t>;      // access Circle's private data</a:t>
            </a:r>
          </a:p>
          <a:p>
            <a:pPr marL="0" indent="0">
              <a:buNone/>
            </a:pPr>
            <a:r>
              <a:rPr lang="en-GB" dirty="0"/>
              <a:t>    double </a:t>
            </a:r>
            <a:r>
              <a:rPr lang="en-GB" dirty="0" err="1"/>
              <a:t>rectArea</a:t>
            </a:r>
            <a:r>
              <a:rPr lang="en-GB" dirty="0"/>
              <a:t> = </a:t>
            </a:r>
            <a:r>
              <a:rPr lang="en-GB" dirty="0" err="1"/>
              <a:t>r.length</a:t>
            </a:r>
            <a:r>
              <a:rPr lang="en-GB" dirty="0"/>
              <a:t> * </a:t>
            </a:r>
            <a:r>
              <a:rPr lang="en-GB" dirty="0" err="1"/>
              <a:t>r.width</a:t>
            </a:r>
            <a:r>
              <a:rPr lang="en-GB" dirty="0"/>
              <a:t>;                 // access Rectangle's private data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(</a:t>
            </a:r>
            <a:r>
              <a:rPr lang="en-GB" dirty="0" err="1"/>
              <a:t>circleArea</a:t>
            </a:r>
            <a:r>
              <a:rPr lang="en-GB" dirty="0"/>
              <a:t> &gt; </a:t>
            </a:r>
            <a:r>
              <a:rPr lang="en-GB" dirty="0" err="1"/>
              <a:t>rectArea</a:t>
            </a:r>
            <a:r>
              <a:rPr lang="en-GB" dirty="0"/>
              <a:t> ? "Circle bigger" : "Rectangle bigger");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50187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B9D9-5A8A-EC7B-CA6C-FE3CF447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Friend Functions?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7A758-150A-408A-D1EE-99ECD469C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2. Overloading operators where the left operand isn't your class type</a:t>
            </a:r>
          </a:p>
          <a:p>
            <a:r>
              <a:rPr lang="en-GB" dirty="0"/>
              <a:t>Example</a:t>
            </a:r>
          </a:p>
          <a:p>
            <a:pPr marL="457200" lvl="1" indent="0">
              <a:buNone/>
            </a:pPr>
            <a:r>
              <a:rPr lang="en-GB" dirty="0"/>
              <a:t>friend </a:t>
            </a:r>
            <a:r>
              <a:rPr lang="en-GB" dirty="0" err="1"/>
              <a:t>ostream</a:t>
            </a:r>
            <a:r>
              <a:rPr lang="en-GB" dirty="0"/>
              <a:t>&amp; operator&lt;&lt;(</a:t>
            </a:r>
            <a:r>
              <a:rPr lang="en-GB" dirty="0" err="1"/>
              <a:t>ostream</a:t>
            </a:r>
            <a:r>
              <a:rPr lang="en-GB" dirty="0"/>
              <a:t> &amp;out, </a:t>
            </a:r>
            <a:r>
              <a:rPr lang="en-GB" dirty="0" err="1"/>
              <a:t>const</a:t>
            </a:r>
            <a:r>
              <a:rPr lang="en-GB" dirty="0"/>
              <a:t> Complex &amp;c) {</a:t>
            </a:r>
          </a:p>
          <a:p>
            <a:pPr marL="457200" lvl="1" indent="0">
              <a:buNone/>
            </a:pPr>
            <a:r>
              <a:rPr lang="en-GB" dirty="0"/>
              <a:t>    out &lt;&lt; </a:t>
            </a:r>
            <a:r>
              <a:rPr lang="en-GB" dirty="0" err="1"/>
              <a:t>c.real</a:t>
            </a:r>
            <a:r>
              <a:rPr lang="en-GB" dirty="0"/>
              <a:t> &lt;&lt; " + " &lt;&lt; </a:t>
            </a:r>
            <a:r>
              <a:rPr lang="en-GB" dirty="0" err="1"/>
              <a:t>c.imag</a:t>
            </a:r>
            <a:r>
              <a:rPr lang="en-GB" dirty="0"/>
              <a:t> &lt;&lt; "</a:t>
            </a:r>
            <a:r>
              <a:rPr lang="en-GB" dirty="0" err="1"/>
              <a:t>i</a:t>
            </a:r>
            <a:r>
              <a:rPr lang="en-GB" dirty="0"/>
              <a:t>";</a:t>
            </a:r>
          </a:p>
          <a:p>
            <a:pPr marL="457200" lvl="1" indent="0">
              <a:buNone/>
            </a:pPr>
            <a:r>
              <a:rPr lang="en-GB" dirty="0"/>
              <a:t>    return out;</a:t>
            </a:r>
          </a:p>
          <a:p>
            <a:pPr marL="457200" lvl="1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13096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6724F-8CFB-35D2-58BA-028446CB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Key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480C7-E77D-A39F-8C35-E81CEE8B0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friend is not a member function - has no this pointer, no access via . or -&gt;. </a:t>
            </a:r>
          </a:p>
          <a:p>
            <a:r>
              <a:rPr lang="en-GB" dirty="0"/>
              <a:t>Friendship is not mutual/inherited - if A is a friend of B, B is not automatically a friend of A. Friendship also isn't inherited by derived classes. </a:t>
            </a:r>
          </a:p>
          <a:p>
            <a:r>
              <a:rPr lang="en-GB" dirty="0"/>
              <a:t>You can also declare an entire class as a friend (friend class </a:t>
            </a:r>
            <a:r>
              <a:rPr lang="en-GB" dirty="0" err="1"/>
              <a:t>OtherClass</a:t>
            </a:r>
            <a:r>
              <a:rPr lang="en-GB" dirty="0"/>
              <a:t>;), giving every member function of that class access to your private data. </a:t>
            </a:r>
          </a:p>
          <a:p>
            <a:r>
              <a:rPr lang="en-GB" dirty="0"/>
              <a:t>Overuse of friend weakens encapsulation - use it sparingly, only when truly needed (like operator overloading edge cases).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25723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7F2E-DD0F-E751-B0D6-659FD116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4385"/>
            <a:ext cx="10515600" cy="15754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K" sz="6000" dirty="0"/>
              <a:t>Enough for Today </a:t>
            </a:r>
          </a:p>
        </p:txBody>
      </p:sp>
    </p:spTree>
    <p:extLst>
      <p:ext uri="{BB962C8B-B14F-4D97-AF65-F5344CB8AC3E}">
        <p14:creationId xmlns:p14="http://schemas.microsoft.com/office/powerpoint/2010/main" val="703842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662</Words>
  <Application>Microsoft Macintosh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Object-Oriented Programming</vt:lpstr>
      <vt:lpstr>Friend Function</vt:lpstr>
      <vt:lpstr>Syntax</vt:lpstr>
      <vt:lpstr>Example</vt:lpstr>
      <vt:lpstr>PowerPoint Presentation</vt:lpstr>
      <vt:lpstr>Why Use Friend Functions?</vt:lpstr>
      <vt:lpstr>Example</vt:lpstr>
      <vt:lpstr>Why Use Friend Functions?</vt:lpstr>
      <vt:lpstr>Key Points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2</cp:revision>
  <dcterms:created xsi:type="dcterms:W3CDTF">2026-07-17T16:00:13Z</dcterms:created>
  <dcterms:modified xsi:type="dcterms:W3CDTF">2026-07-18T11:08:52Z</dcterms:modified>
</cp:coreProperties>
</file>