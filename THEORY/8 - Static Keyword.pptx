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static?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static is a keyword with different meanings depending on context - inside a class (static data members/functions), inside a function (static local variables), or at file/global scope (static global variables/functions). For OOP, we mainly focus on the class-level usage.</a:t>
            </a:r>
          </a:p>
          <a:p>
            <a:r>
              <a:rPr lang="en-GB" b="1" dirty="0"/>
              <a:t>Core idea:</a:t>
            </a:r>
            <a:r>
              <a:rPr lang="en-GB" dirty="0"/>
              <a:t> Something declared static belongs to the class as a whole, not to any individual object.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E529-D718-05FE-A531-F8B25D2F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Data Members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64335-4A58-C7EF-DF7A-B3A02E3A5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227"/>
            <a:ext cx="10515600" cy="4722736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Shared by all objects of the class - only ONE copy exists in memory, no matter how many objects are created.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Declared inside the class, but must be defined (and initialized) outside the class.</a:t>
            </a:r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/>
              <a:t>class Student { private: string name; static int </a:t>
            </a:r>
            <a:r>
              <a:rPr lang="en-GB" dirty="0" err="1"/>
              <a:t>totalStudents</a:t>
            </a:r>
            <a:r>
              <a:rPr lang="en-GB" dirty="0"/>
              <a:t>; // declaration only </a:t>
            </a:r>
          </a:p>
          <a:p>
            <a:pPr marL="457200" lvl="1" indent="0">
              <a:buNone/>
            </a:pPr>
            <a:r>
              <a:rPr lang="en-GB" dirty="0"/>
              <a:t>public: Student(string n) { name = n; </a:t>
            </a:r>
            <a:r>
              <a:rPr lang="en-GB" dirty="0" err="1"/>
              <a:t>totalStudents</a:t>
            </a:r>
            <a:r>
              <a:rPr lang="en-GB" dirty="0"/>
              <a:t>++; } }; </a:t>
            </a:r>
          </a:p>
          <a:p>
            <a:pPr marL="457200" lvl="1" indent="0">
              <a:buNone/>
            </a:pPr>
            <a:r>
              <a:rPr lang="en-GB" dirty="0"/>
              <a:t>Int Student::</a:t>
            </a:r>
            <a:r>
              <a:rPr lang="en-GB" dirty="0" err="1"/>
              <a:t>totalStudents</a:t>
            </a:r>
            <a:r>
              <a:rPr lang="en-GB" dirty="0"/>
              <a:t> = 0; // definition - REQUIRED outside class</a:t>
            </a:r>
          </a:p>
          <a:p>
            <a:r>
              <a:rPr lang="en-GB" dirty="0"/>
              <a:t>If you forget the outside definition: you'll get a linker error ("undefined reference to Student::</a:t>
            </a:r>
            <a:r>
              <a:rPr lang="en-GB" dirty="0" err="1"/>
              <a:t>totalStudents</a:t>
            </a:r>
            <a:r>
              <a:rPr lang="en-GB" dirty="0"/>
              <a:t>"), because declaring inside the class only tells the compiler it exists - memory isn't actually allocated until defined outside.</a:t>
            </a:r>
          </a:p>
          <a:p>
            <a:r>
              <a:rPr lang="en-GB" dirty="0"/>
              <a:t>(Note: In C++17 and later, you can use inline static int </a:t>
            </a:r>
            <a:r>
              <a:rPr lang="en-GB" dirty="0" err="1"/>
              <a:t>totalStudents</a:t>
            </a:r>
            <a:r>
              <a:rPr lang="en-GB" dirty="0"/>
              <a:t> = 0; directly inside the class, avoiding the separate definition line.)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8854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FA94-5E5D-105A-AF02-77B49761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Member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E0303-1B7B-4927-05A1-D9370EF14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345"/>
            <a:ext cx="10515600" cy="4704202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Belong to the class, not a specific object - can be called without creating any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Called using the scope resolution operator: </a:t>
            </a:r>
            <a:r>
              <a:rPr lang="en-GB" dirty="0" err="1"/>
              <a:t>ClassName</a:t>
            </a:r>
            <a:r>
              <a:rPr lang="en-GB" dirty="0"/>
              <a:t>::</a:t>
            </a:r>
            <a:r>
              <a:rPr lang="en-GB" dirty="0" err="1"/>
              <a:t>functionName</a:t>
            </a:r>
            <a:r>
              <a:rPr lang="en-GB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Can access only static members - cannot access non-static (regular) data members or call non-static functions directly.</a:t>
            </a:r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/>
              <a:t>class Student { </a:t>
            </a:r>
          </a:p>
          <a:p>
            <a:pPr marL="457200" lvl="1" indent="0">
              <a:buNone/>
            </a:pPr>
            <a:r>
              <a:rPr lang="en-GB" dirty="0"/>
              <a:t>static int </a:t>
            </a:r>
            <a:r>
              <a:rPr lang="en-GB" dirty="0" err="1"/>
              <a:t>totalStudents</a:t>
            </a:r>
            <a:r>
              <a:rPr lang="en-GB" dirty="0"/>
              <a:t>; </a:t>
            </a:r>
          </a:p>
          <a:p>
            <a:pPr marL="457200" lvl="1" indent="0">
              <a:buNone/>
            </a:pPr>
            <a:r>
              <a:rPr lang="en-GB" dirty="0"/>
              <a:t>public: </a:t>
            </a:r>
          </a:p>
          <a:p>
            <a:pPr marL="457200" lvl="1" indent="0">
              <a:buNone/>
            </a:pPr>
            <a:r>
              <a:rPr lang="en-GB" dirty="0"/>
              <a:t>static int </a:t>
            </a:r>
            <a:r>
              <a:rPr lang="en-GB" dirty="0" err="1"/>
              <a:t>getTotalStudents</a:t>
            </a:r>
            <a:r>
              <a:rPr lang="en-GB" dirty="0"/>
              <a:t>() { return </a:t>
            </a:r>
            <a:r>
              <a:rPr lang="en-GB" dirty="0" err="1"/>
              <a:t>totalStudents</a:t>
            </a:r>
            <a:r>
              <a:rPr lang="en-GB" dirty="0"/>
              <a:t>; // OK }	</a:t>
            </a:r>
          </a:p>
          <a:p>
            <a:pPr marL="457200" lvl="1" indent="0">
              <a:buNone/>
            </a:pPr>
            <a:r>
              <a:rPr lang="en-GB" dirty="0"/>
              <a:t> }; </a:t>
            </a:r>
          </a:p>
          <a:p>
            <a:pPr marL="457200" lvl="1" indent="0">
              <a:buNone/>
            </a:pPr>
            <a:r>
              <a:rPr lang="en-GB" dirty="0"/>
              <a:t>int main() { </a:t>
            </a:r>
          </a:p>
          <a:p>
            <a:pPr marL="457200" lvl="1" indent="0">
              <a:buNone/>
            </a:pPr>
            <a:r>
              <a:rPr lang="en-GB" dirty="0" err="1"/>
              <a:t>cout</a:t>
            </a:r>
            <a:r>
              <a:rPr lang="en-GB" dirty="0"/>
              <a:t> &lt;&lt; Student::</a:t>
            </a:r>
            <a:r>
              <a:rPr lang="en-GB" dirty="0" err="1"/>
              <a:t>getTotalStudents</a:t>
            </a:r>
            <a:r>
              <a:rPr lang="en-GB" dirty="0"/>
              <a:t>(); // no object needed! </a:t>
            </a:r>
          </a:p>
          <a:p>
            <a:pPr marL="457200" lvl="1" indent="0">
              <a:buNone/>
            </a:pPr>
            <a:r>
              <a:rPr lang="en-GB" dirty="0"/>
              <a:t>}</a:t>
            </a:r>
          </a:p>
          <a:p>
            <a:r>
              <a:rPr lang="en-GB" dirty="0"/>
              <a:t>Why can't static functions access non-static members?</a:t>
            </a:r>
            <a:br>
              <a:rPr lang="en-GB" dirty="0"/>
            </a:br>
            <a:r>
              <a:rPr lang="en-GB" dirty="0"/>
              <a:t>Because static functions have no this pointer - there's no specific object context to know which object's data to use.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0455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22DE-0B67-C6B1-FFDF-95D8FF33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Rule - Direction of Access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CC1D-18F1-EC50-DA21-B0DCA69EF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  <a:p>
            <a:endParaRPr lang="en-PK" dirty="0"/>
          </a:p>
          <a:p>
            <a:endParaRPr lang="en-PK" dirty="0"/>
          </a:p>
          <a:p>
            <a:endParaRPr lang="en-PK" dirty="0"/>
          </a:p>
          <a:p>
            <a:endParaRPr lang="en-GB" dirty="0"/>
          </a:p>
          <a:p>
            <a:r>
              <a:rPr lang="en-GB" dirty="0"/>
              <a:t>Non-static functions have access to </a:t>
            </a:r>
            <a:r>
              <a:rPr lang="en-GB" b="1" dirty="0"/>
              <a:t>both</a:t>
            </a:r>
            <a:r>
              <a:rPr lang="en-GB" dirty="0"/>
              <a:t> because they carry this (specific object) </a:t>
            </a:r>
            <a:r>
              <a:rPr lang="en-GB" b="1" dirty="0"/>
              <a:t>and</a:t>
            </a:r>
            <a:r>
              <a:rPr lang="en-GB" dirty="0"/>
              <a:t> class-level access (statics). Static functions only have class-level access.</a:t>
            </a:r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5518BF-EFCE-27BE-3152-04C34128E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300943"/>
              </p:ext>
            </p:extLst>
          </p:nvPr>
        </p:nvGraphicFramePr>
        <p:xfrm>
          <a:off x="947452" y="1825625"/>
          <a:ext cx="10091448" cy="208536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363816">
                  <a:extLst>
                    <a:ext uri="{9D8B030D-6E8A-4147-A177-3AD203B41FA5}">
                      <a16:colId xmlns:a16="http://schemas.microsoft.com/office/drawing/2014/main" val="2955963496"/>
                    </a:ext>
                  </a:extLst>
                </a:gridCol>
                <a:gridCol w="3363816">
                  <a:extLst>
                    <a:ext uri="{9D8B030D-6E8A-4147-A177-3AD203B41FA5}">
                      <a16:colId xmlns:a16="http://schemas.microsoft.com/office/drawing/2014/main" val="2318866684"/>
                    </a:ext>
                  </a:extLst>
                </a:gridCol>
                <a:gridCol w="3363816">
                  <a:extLst>
                    <a:ext uri="{9D8B030D-6E8A-4147-A177-3AD203B41FA5}">
                      <a16:colId xmlns:a16="http://schemas.microsoft.com/office/drawing/2014/main" val="3732569526"/>
                    </a:ext>
                  </a:extLst>
                </a:gridCol>
              </a:tblGrid>
              <a:tr h="808479">
                <a:tc>
                  <a:txBody>
                    <a:bodyPr/>
                    <a:lstStyle/>
                    <a:p>
                      <a:pPr algn="ctr"/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Can access static members?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Can access non-static members?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63494"/>
                  </a:ext>
                </a:extLst>
              </a:tr>
              <a:tr h="808479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Non-static member function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176801"/>
                  </a:ext>
                </a:extLst>
              </a:tr>
              <a:tr h="468404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Static member function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16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39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CF10-3419-0815-1A1F-460797FE6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Objects of a Class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ADF3E-063E-DB23-B3DF-278F4E02B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also declare an </a:t>
            </a:r>
            <a:r>
              <a:rPr lang="en-GB" b="1" dirty="0"/>
              <a:t>object itself</a:t>
            </a:r>
            <a:r>
              <a:rPr lang="en-GB" dirty="0"/>
              <a:t> as static inside a class or function - meaning it's created only once and persists across calls/scope, rather than being recreated each time.</a:t>
            </a:r>
          </a:p>
          <a:p>
            <a:r>
              <a:rPr lang="en-GB" dirty="0"/>
              <a:t>Example:</a:t>
            </a:r>
          </a:p>
          <a:p>
            <a:pPr marL="914400" lvl="2" indent="0">
              <a:buNone/>
            </a:pPr>
            <a:r>
              <a:rPr lang="en-GB" dirty="0"/>
              <a:t>void </a:t>
            </a:r>
            <a:r>
              <a:rPr lang="en-GB" dirty="0" err="1"/>
              <a:t>func</a:t>
            </a:r>
            <a:r>
              <a:rPr lang="en-GB" dirty="0"/>
              <a:t>() </a:t>
            </a:r>
          </a:p>
          <a:p>
            <a:pPr marL="914400" lvl="2" indent="0">
              <a:buNone/>
            </a:pPr>
            <a:r>
              <a:rPr lang="en-GB" dirty="0"/>
              <a:t>{ static Student s("Ali"); // created only once, even if </a:t>
            </a:r>
            <a:r>
              <a:rPr lang="en-GB" dirty="0" err="1"/>
              <a:t>func</a:t>
            </a:r>
            <a:r>
              <a:rPr lang="en-GB" dirty="0"/>
              <a:t>() is called multiple times 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6292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798D-918C-8FD3-ADBF-4AFC3883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Local Variables (inside functions)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C30F5-EE2A-589E-1319-7CE9C44F7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static variable inside a function retains its value between function calls, instead of being reinitialized every time.</a:t>
            </a:r>
          </a:p>
          <a:p>
            <a:r>
              <a:rPr lang="en-GB" dirty="0"/>
              <a:t>Example</a:t>
            </a:r>
          </a:p>
          <a:p>
            <a:pPr marL="457200" lvl="1" indent="0">
              <a:buNone/>
            </a:pPr>
            <a:r>
              <a:rPr lang="en-GB" dirty="0"/>
              <a:t>void counter() { </a:t>
            </a:r>
          </a:p>
          <a:p>
            <a:pPr marL="457200" lvl="1" indent="0">
              <a:buNone/>
            </a:pPr>
            <a:r>
              <a:rPr lang="en-GB" dirty="0"/>
              <a:t>static int count = 0; // initialized only ONCE, ever </a:t>
            </a:r>
          </a:p>
          <a:p>
            <a:pPr marL="457200" lvl="1" indent="0">
              <a:buNone/>
            </a:pPr>
            <a:r>
              <a:rPr lang="en-GB" dirty="0"/>
              <a:t>count++; </a:t>
            </a:r>
          </a:p>
          <a:p>
            <a:pPr marL="457200" lvl="1" indent="0">
              <a:buNone/>
            </a:pPr>
            <a:r>
              <a:rPr lang="en-GB" dirty="0" err="1"/>
              <a:t>cout</a:t>
            </a:r>
            <a:r>
              <a:rPr lang="en-GB" dirty="0"/>
              <a:t> &lt;&lt; count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pPr marL="457200" lvl="1" indent="0">
              <a:buNone/>
            </a:pPr>
            <a:r>
              <a:rPr lang="en-GB" dirty="0"/>
              <a:t>int main() { </a:t>
            </a:r>
          </a:p>
          <a:p>
            <a:pPr marL="457200" lvl="1" indent="0">
              <a:buNone/>
            </a:pPr>
            <a:r>
              <a:rPr lang="en-GB" dirty="0"/>
              <a:t>counter(); // 1 </a:t>
            </a:r>
          </a:p>
          <a:p>
            <a:pPr marL="457200" lvl="1" indent="0">
              <a:buNone/>
            </a:pPr>
            <a:r>
              <a:rPr lang="en-GB" dirty="0"/>
              <a:t>counter(); // 2 </a:t>
            </a:r>
          </a:p>
          <a:p>
            <a:pPr marL="457200" lvl="1" indent="0">
              <a:buNone/>
            </a:pPr>
            <a:r>
              <a:rPr lang="en-GB" dirty="0"/>
              <a:t>counter(); // 3 - value persists across calls! }</a:t>
            </a:r>
          </a:p>
          <a:p>
            <a:r>
              <a:rPr lang="en-GB" dirty="0"/>
              <a:t>Compare this to a normal local variable, which would reset to its initial value every call.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5501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AABD-F228-6623-7334-F7F7E86B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Use Cases of static in 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F2D10-9D12-9FE8-F22C-A5CF6C086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Object counting</a:t>
            </a:r>
            <a:r>
              <a:rPr lang="en-GB" dirty="0"/>
              <a:t> - track how many objects exist (e.g., </a:t>
            </a:r>
            <a:r>
              <a:rPr lang="en-GB" dirty="0" err="1"/>
              <a:t>totalStudents</a:t>
            </a:r>
            <a:r>
              <a:rPr lang="en-GB" dirty="0"/>
              <a:t>).</a:t>
            </a:r>
          </a:p>
          <a:p>
            <a:r>
              <a:rPr lang="en-GB" b="1" dirty="0"/>
              <a:t>Shared configuration/constants</a:t>
            </a:r>
            <a:r>
              <a:rPr lang="en-GB" dirty="0"/>
              <a:t> - a value common to all objects (e.g., tax rate, interest rate).</a:t>
            </a:r>
          </a:p>
          <a:p>
            <a:r>
              <a:rPr lang="en-GB" b="1" dirty="0"/>
              <a:t>Utility/helper functions</a:t>
            </a:r>
            <a:r>
              <a:rPr lang="en-GB" dirty="0"/>
              <a:t> - functions that don't need object-specific data (e.g., a math helper class with static functions like Math::square(x)).</a:t>
            </a:r>
          </a:p>
          <a:p>
            <a:r>
              <a:rPr lang="en-GB" b="1" dirty="0"/>
              <a:t>Singleton design pattern</a:t>
            </a:r>
            <a:r>
              <a:rPr lang="en-GB" dirty="0"/>
              <a:t> - often uses a static object/pointer to ensure only one instance of a class ever exists.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1236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F30E-3EE0-01DB-3EB6-315B066B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Rules Summary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1EDD8-5B6D-36E6-4DCA-1536A6CDC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Static data member → declared in class, defined outside (unless C++17 inline). </a:t>
            </a:r>
          </a:p>
          <a:p>
            <a:r>
              <a:rPr lang="en-GB" dirty="0"/>
              <a:t>Static member function → can be called via </a:t>
            </a:r>
            <a:r>
              <a:rPr lang="en-GB" dirty="0" err="1"/>
              <a:t>ClassName</a:t>
            </a:r>
            <a:r>
              <a:rPr lang="en-GB" dirty="0"/>
              <a:t>::function(), no object required. </a:t>
            </a:r>
          </a:p>
          <a:p>
            <a:r>
              <a:rPr lang="en-GB" dirty="0"/>
              <a:t>Static function cannot be declared </a:t>
            </a:r>
            <a:r>
              <a:rPr lang="en-GB" dirty="0" err="1"/>
              <a:t>const</a:t>
            </a:r>
            <a:r>
              <a:rPr lang="en-GB" dirty="0"/>
              <a:t> in a meaningful way (there's no object, hence no this to make </a:t>
            </a:r>
            <a:r>
              <a:rPr lang="en-GB" dirty="0" err="1"/>
              <a:t>const</a:t>
            </a:r>
            <a:r>
              <a:rPr lang="en-GB" dirty="0"/>
              <a:t> in the first place). </a:t>
            </a:r>
          </a:p>
          <a:p>
            <a:r>
              <a:rPr lang="en-GB" dirty="0"/>
              <a:t>Static members exist even if zero objects of the class have been created. </a:t>
            </a:r>
          </a:p>
          <a:p>
            <a:r>
              <a:rPr lang="en-GB" dirty="0"/>
              <a:t>Constructors/destructors are called per object - they do NOT run for static members themselves (a static member is initialized once at program start, not per-object construction).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18209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804</Words>
  <Application>Microsoft Macintosh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Object-Oriented Programming</vt:lpstr>
      <vt:lpstr>What is static?</vt:lpstr>
      <vt:lpstr>Static Data Members</vt:lpstr>
      <vt:lpstr>Static Member Functions</vt:lpstr>
      <vt:lpstr>Key Rule - Direction of Access</vt:lpstr>
      <vt:lpstr>Static Objects of a Class</vt:lpstr>
      <vt:lpstr>Static Local Variables (inside functions)</vt:lpstr>
      <vt:lpstr>Common Use Cases of static in OOP</vt:lpstr>
      <vt:lpstr>Important Rules Summary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3</cp:revision>
  <dcterms:created xsi:type="dcterms:W3CDTF">2026-07-17T16:00:13Z</dcterms:created>
  <dcterms:modified xsi:type="dcterms:W3CDTF">2026-07-18T07:49:03Z</dcterms:modified>
</cp:coreProperties>
</file>