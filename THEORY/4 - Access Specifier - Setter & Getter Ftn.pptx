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0"/>
  </p:notesMasterIdLst>
  <p:sldIdLst>
    <p:sldId id="257" r:id="rId2"/>
    <p:sldId id="824" r:id="rId3"/>
    <p:sldId id="826" r:id="rId4"/>
    <p:sldId id="820" r:id="rId5"/>
    <p:sldId id="831" r:id="rId6"/>
    <p:sldId id="832" r:id="rId7"/>
    <p:sldId id="827" r:id="rId8"/>
    <p:sldId id="810" r:id="rId9"/>
    <p:sldId id="811" r:id="rId10"/>
    <p:sldId id="812" r:id="rId11"/>
    <p:sldId id="813" r:id="rId12"/>
    <p:sldId id="814" r:id="rId13"/>
    <p:sldId id="815" r:id="rId14"/>
    <p:sldId id="816" r:id="rId15"/>
    <p:sldId id="791" r:id="rId16"/>
    <p:sldId id="263" r:id="rId17"/>
    <p:sldId id="264" r:id="rId18"/>
    <p:sldId id="265" r:id="rId19"/>
  </p:sldIdLst>
  <p:sldSz cx="9144000" cy="6858000" type="screen4x3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6" autoAdjust="0"/>
    <p:restoredTop sz="96980" autoAdjust="0"/>
  </p:normalViewPr>
  <p:slideViewPr>
    <p:cSldViewPr>
      <p:cViewPr varScale="1">
        <p:scale>
          <a:sx n="112" d="100"/>
          <a:sy n="112" d="100"/>
        </p:scale>
        <p:origin x="1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8386AA9C-C781-4F26-B6CB-D244D58BD789}" type="datetimeFigureOut">
              <a:rPr lang="en-US" smtClean="0"/>
              <a:pPr/>
              <a:t>7/17/26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3C16EE2-1D9B-4258-A1AD-BBDE1A15A8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19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FA72-7763-0886-76A9-9F5F39AFB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648B3-9F68-0A9E-F676-4F40C57C6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57146-69F2-1958-7529-F36AFF84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76A44-8A87-1B68-63AE-5A8F7DE2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90F45-7DC5-4A12-0A45-C4B2D834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7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98CF-0AEC-833D-56CC-796DD14E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3BF06-C191-E065-CD8C-0EAB4FEE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55C87-491E-43B5-665E-DE4CE9883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E213-736B-4F60-15E9-124CF8FA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79602-548E-30C1-B44F-148D002A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269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5F9B-AD2E-D087-E852-8AA66D4D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A447F-DD54-2832-DF03-0366FC4ED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5C454-B249-3D39-0E18-615454E8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3E3E3-BF81-F9E4-6FD8-6D3E2261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38DA4-949E-E7D0-DE5B-FC890A98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8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7406-169D-25A0-C92C-D1D24AB7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B344-78D1-0422-A5D2-F98FD888E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EE274-3D7D-358C-215A-D2AB28CF6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080FE-F45A-47C2-4A67-6FEECEB5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5275A-152E-8E25-4F35-2E503B9F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2EE2D-B3EE-CABB-419B-081014AF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21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273F-69E1-865B-206C-C0751221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05BAB-4093-D231-A561-0B3ED155E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DD9DB-A9C0-E9A6-4E99-B4715207D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D9472-37C8-CD81-C2A4-D4AC613C1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8D2E0C-F10D-6E13-C6E5-A6AB97985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1BD75-F9FF-AA2F-2817-578AF7863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BB6D5-BF81-565A-125B-0C61FABF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D9557-3193-468B-B67D-D7E94CF6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6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D272-6576-0104-BDAA-75532EAC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E8773-7414-4BAE-5DBC-416FD3BD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E2C29-873F-DE24-2159-F12B46A4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66C98-90A9-B8DF-282C-CCA343F0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5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3397B-9384-8C28-F0C4-F968EFED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6AE7-3755-C11D-140A-D5B9FDE3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26FDD-4870-B6E3-5CAE-EC0BB020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8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2E30-A3A7-0039-D8B0-A27347B7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3549-7BA9-1282-93EA-518F12FA2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97F56-F018-9A05-5C02-1434FC644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47D99-AC90-ECFD-06A2-4EEA1A8B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7CF0E-9489-B4B5-712C-50616F06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6E727-AD06-5C6F-620F-EF1B95AE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2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54E7-07E0-C948-D698-8C94932B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86C9D-12F9-D9F0-8BF9-9B8D247FE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C6918-4E26-44E8-7CF1-D81DEBCBD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50F4-66ED-3A22-D019-683B637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DFA36-3021-B822-A644-5F128659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362BA-82AA-DBA9-E428-8AAA4DDC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51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767B-9571-A4CD-5A24-2AA2124D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99F5C-2C67-8940-E2CD-B740BC4FF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51374-B1AB-F79F-FB2E-025B1810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1BB28-CA8A-DCAE-F456-E7E277FA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5A98A-CD7F-8930-8D49-634D9461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86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45C16-D663-B306-AC59-43E3F88B5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9C388-5E96-EE60-E73B-FEF5D2CD4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17844-48AD-199A-1842-129E949B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1235-D988-A957-08F1-AFE0993E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071E3-70FB-8DA6-87BF-F7C0602A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5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A72AB-78E5-75DE-EB75-C8BE5F693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E61E3-E1DB-ED56-EC2E-48098A9F1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7DC16-3243-FD29-425F-A97380368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9334D819-9F07-4261-B09B-9E467E5D9002}" type="datetimeFigureOut">
              <a:rPr lang="en-US" smtClean="0"/>
              <a:pPr/>
              <a:t>7/17/26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5E3A4-1F87-BA49-F56A-2A12FEDE9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985BB-EB28-1C0E-0821-60EE67467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113" y="1459406"/>
            <a:ext cx="7626427" cy="17907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65347"/>
            <a:ext cx="6858000" cy="1241822"/>
          </a:xfrm>
        </p:spPr>
        <p:txBody>
          <a:bodyPr>
            <a:normAutofit fontScale="92500"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analogy </a:t>
            </a:r>
          </a:p>
          <a:p>
            <a:pPr lvl="1"/>
            <a:r>
              <a:rPr lang="en-US" dirty="0"/>
              <a:t>A class is a blue print e.g. car engineering drawing</a:t>
            </a:r>
          </a:p>
          <a:p>
            <a:pPr lvl="1"/>
            <a:r>
              <a:rPr lang="en-US" dirty="0"/>
              <a:t>An object has existence e.g. my car</a:t>
            </a:r>
          </a:p>
          <a:p>
            <a:r>
              <a:rPr lang="en-US" dirty="0"/>
              <a:t>Each object has its attributes (variables) and behavior (functions)</a:t>
            </a:r>
          </a:p>
          <a:p>
            <a:r>
              <a:rPr lang="en-US" dirty="0"/>
              <a:t>To perform a task describe by class, an object of that class must be created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1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C++ program using </a:t>
            </a:r>
            <a:r>
              <a:rPr lang="en-US" dirty="0" err="1"/>
              <a:t>cin</a:t>
            </a:r>
            <a:r>
              <a:rPr lang="en-US" dirty="0"/>
              <a:t> and </a:t>
            </a:r>
            <a:r>
              <a:rPr lang="en-US" dirty="0" err="1"/>
              <a:t>cout</a:t>
            </a:r>
            <a:endParaRPr lang="en-US" dirty="0"/>
          </a:p>
          <a:p>
            <a:r>
              <a:rPr lang="en-US" dirty="0"/>
              <a:t>Member function with parameters/arguments</a:t>
            </a:r>
          </a:p>
          <a:p>
            <a:r>
              <a:rPr lang="en-US" dirty="0"/>
              <a:t>Setter functions and getter functions</a:t>
            </a:r>
          </a:p>
        </p:txBody>
      </p:sp>
    </p:spTree>
    <p:extLst>
      <p:ext uri="{BB962C8B-B14F-4D97-AF65-F5344CB8AC3E}">
        <p14:creationId xmlns:p14="http://schemas.microsoft.com/office/powerpoint/2010/main" val="54640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dirty="0"/>
              <a:t>Member function with parameter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36" y="1224466"/>
            <a:ext cx="799143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4724399"/>
            <a:ext cx="7534235" cy="465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334000"/>
            <a:ext cx="6705600" cy="413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943600"/>
            <a:ext cx="5334000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663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AB4B-0DA9-6BBE-06B6-FFA03B07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Access Specifier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4F4E-A56A-B74D-515A-C0DA13B0A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80536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Access specifiers control the </a:t>
            </a:r>
            <a:r>
              <a:rPr lang="en-GB" b="1" dirty="0"/>
              <a:t>visibility/accessibility</a:t>
            </a:r>
            <a:r>
              <a:rPr lang="en-GB" dirty="0"/>
              <a:t> of class members (data and methods) - i.e., who can access what.</a:t>
            </a:r>
          </a:p>
          <a:p>
            <a:r>
              <a:rPr lang="en-GB" b="1" dirty="0"/>
              <a:t>Three main access specifiers (in C++):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Private</a:t>
            </a:r>
            <a:r>
              <a:rPr lang="en-GB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Accessible only </a:t>
            </a:r>
            <a:r>
              <a:rPr lang="en-GB" b="1" dirty="0"/>
              <a:t>within the same class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Not accessible outside the class or by derived classes.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Default access specifier for a class in C++.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Public</a:t>
            </a:r>
            <a:r>
              <a:rPr lang="en-GB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Accessible from </a:t>
            </a:r>
            <a:r>
              <a:rPr lang="en-GB" b="1" dirty="0"/>
              <a:t>anywhere</a:t>
            </a:r>
            <a:r>
              <a:rPr lang="en-GB" dirty="0"/>
              <a:t> - inside the class, outside the class, and by derived classes.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Protected</a:t>
            </a:r>
            <a:r>
              <a:rPr lang="en-GB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Accessible </a:t>
            </a:r>
            <a:r>
              <a:rPr lang="en-GB" b="1" dirty="0"/>
              <a:t>within the same class</a:t>
            </a:r>
            <a:r>
              <a:rPr lang="en-GB" dirty="0"/>
              <a:t> and by </a:t>
            </a:r>
            <a:r>
              <a:rPr lang="en-GB" b="1" dirty="0"/>
              <a:t>derived (child) classes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Not accessible from outside the class directly.</a:t>
            </a:r>
          </a:p>
          <a:p>
            <a:r>
              <a:rPr lang="en-GB" b="1" dirty="0"/>
              <a:t>Why use them?</a:t>
            </a:r>
            <a:br>
              <a:rPr lang="en-GB" dirty="0"/>
            </a:br>
            <a:r>
              <a:rPr lang="en-GB" dirty="0"/>
              <a:t>This supports </a:t>
            </a:r>
            <a:r>
              <a:rPr lang="en-GB" b="1" dirty="0"/>
              <a:t>Encapsulation</a:t>
            </a:r>
            <a:r>
              <a:rPr lang="en-GB" dirty="0"/>
              <a:t> - hiding internal implementation details and only exposing what's necessary, protecting data from unwanted external access/modification.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44E72-9FAC-C879-9CC6-30D6D566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7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055B-3A75-CA31-F7D4-20A14780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Setter and Getter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036F0-6703-C850-C799-7635F4460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are </a:t>
            </a:r>
            <a:r>
              <a:rPr lang="en-GB" b="1" dirty="0"/>
              <a:t>public methods</a:t>
            </a:r>
            <a:r>
              <a:rPr lang="en-GB" dirty="0"/>
              <a:t> used to safely access and modify </a:t>
            </a:r>
            <a:r>
              <a:rPr lang="en-GB" b="1" dirty="0"/>
              <a:t>private</a:t>
            </a:r>
            <a:r>
              <a:rPr lang="en-GB" dirty="0"/>
              <a:t> data members of a class - a core technique for implementing </a:t>
            </a:r>
            <a:r>
              <a:rPr lang="en-GB" b="1" dirty="0"/>
              <a:t>encapsulation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Getter</a:t>
            </a:r>
            <a:r>
              <a:rPr lang="en-GB" dirty="0"/>
              <a:t> – retrieves (reads) the value of a private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Setter</a:t>
            </a:r>
            <a:r>
              <a:rPr lang="en-GB" dirty="0"/>
              <a:t> – modifies (updates) the value of a private variable, often </a:t>
            </a:r>
            <a:r>
              <a:rPr lang="en-GB" b="1" dirty="0"/>
              <a:t>with validation</a:t>
            </a:r>
            <a:r>
              <a:rPr lang="en-GB" dirty="0"/>
              <a:t>.</a:t>
            </a:r>
          </a:p>
          <a:p>
            <a:r>
              <a:rPr lang="en-GB" b="1" dirty="0"/>
              <a:t>Why not just make the variable public?</a:t>
            </a:r>
            <a:br>
              <a:rPr lang="en-GB" dirty="0"/>
            </a:br>
            <a:r>
              <a:rPr lang="en-GB" dirty="0"/>
              <a:t>Because that would let anyone change it directly, without any checks - e.g., someone could set a student's marks = -50 or an age to -10. Setters let you </a:t>
            </a:r>
            <a:r>
              <a:rPr lang="en-GB" b="1" dirty="0"/>
              <a:t>validate</a:t>
            </a:r>
            <a:r>
              <a:rPr lang="en-GB" dirty="0"/>
              <a:t> input before accepting it. Getters let you </a:t>
            </a:r>
            <a:r>
              <a:rPr lang="en-GB" b="1" dirty="0"/>
              <a:t>control</a:t>
            </a:r>
            <a:r>
              <a:rPr lang="en-GB" dirty="0"/>
              <a:t> how data is exposed (e.g., read-only).</a:t>
            </a:r>
          </a:p>
          <a:p>
            <a:r>
              <a:rPr lang="en-GB" b="1" dirty="0"/>
              <a:t>Naming convention:</a:t>
            </a:r>
            <a:r>
              <a:rPr lang="en-GB" dirty="0"/>
              <a:t> usually </a:t>
            </a:r>
            <a:r>
              <a:rPr lang="en-GB" dirty="0" err="1"/>
              <a:t>getX</a:t>
            </a:r>
            <a:r>
              <a:rPr lang="en-GB" dirty="0"/>
              <a:t>() and </a:t>
            </a:r>
            <a:r>
              <a:rPr lang="en-GB" dirty="0" err="1"/>
              <a:t>setX</a:t>
            </a:r>
            <a:r>
              <a:rPr lang="en-GB" dirty="0"/>
              <a:t>().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5E4B4-51AF-8250-F8AB-AE71549C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35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1527"/>
            <a:ext cx="7886700" cy="1325563"/>
          </a:xfrm>
        </p:spPr>
        <p:txBody>
          <a:bodyPr/>
          <a:lstStyle/>
          <a:p>
            <a:r>
              <a:rPr lang="en-US" dirty="0"/>
              <a:t>A book class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19" y="1505569"/>
            <a:ext cx="2705061" cy="115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411" y="2606716"/>
            <a:ext cx="7086600" cy="3791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852055" y="1148382"/>
            <a:ext cx="1957914" cy="5628091"/>
            <a:chOff x="838200" y="1228497"/>
            <a:chExt cx="1957914" cy="5628091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599" y="6442365"/>
              <a:ext cx="490931" cy="414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228497"/>
              <a:ext cx="1957914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6799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61310"/>
            <a:ext cx="2362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data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51510" y="1981200"/>
            <a:ext cx="7633742" cy="3593591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/>
              <a:t>The class </a:t>
            </a:r>
            <a:r>
              <a:rPr lang="en-US" sz="2800" b="1" dirty="0"/>
              <a:t>Book</a:t>
            </a:r>
            <a:r>
              <a:rPr lang="en-US" sz="2800" dirty="0"/>
              <a:t> contain three data items</a:t>
            </a:r>
          </a:p>
          <a:p>
            <a:pPr lvl="1" eaLnBrk="1" hangingPunct="1"/>
            <a:r>
              <a:rPr lang="en-US" sz="2400" dirty="0"/>
              <a:t>char name[15];</a:t>
            </a:r>
          </a:p>
          <a:p>
            <a:pPr lvl="1" eaLnBrk="1" hangingPunct="1"/>
            <a:r>
              <a:rPr lang="en-US" sz="2400" dirty="0" err="1"/>
              <a:t>int</a:t>
            </a:r>
            <a:r>
              <a:rPr lang="en-US" sz="2400" dirty="0"/>
              <a:t> pages;</a:t>
            </a:r>
          </a:p>
          <a:p>
            <a:pPr lvl="1" eaLnBrk="1" hangingPunct="1"/>
            <a:r>
              <a:rPr lang="en-US" sz="2400" dirty="0"/>
              <a:t>float price;    </a:t>
            </a:r>
          </a:p>
          <a:p>
            <a:pPr eaLnBrk="1" hangingPunct="1"/>
            <a:r>
              <a:rPr lang="en-US" sz="2800" dirty="0"/>
              <a:t>There can be any number of data members in a class just as in structure</a:t>
            </a:r>
          </a:p>
          <a:p>
            <a:pPr eaLnBrk="1" hangingPunct="1"/>
            <a:r>
              <a:rPr lang="en-US" sz="2800" dirty="0"/>
              <a:t>Data member are after the keyword private, so they can be accessed from within the class, but not outside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979" y="2823210"/>
            <a:ext cx="25273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6966992" y="2708910"/>
            <a:ext cx="1219200" cy="838200"/>
            <a:chOff x="7543800" y="5257800"/>
            <a:chExt cx="1219200" cy="838200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7543800" y="5334000"/>
              <a:ext cx="1219200" cy="762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7543800" y="5257800"/>
              <a:ext cx="1219200" cy="838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965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Member function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These functions are included in a class</a:t>
            </a:r>
          </a:p>
          <a:p>
            <a:pPr eaLnBrk="1" hangingPunct="1"/>
            <a:r>
              <a:rPr lang="en-US" dirty="0"/>
              <a:t>There are four member functions in class </a:t>
            </a:r>
            <a:r>
              <a:rPr lang="en-US" b="1" dirty="0"/>
              <a:t>Book</a:t>
            </a:r>
          </a:p>
          <a:p>
            <a:pPr lvl="1" eaLnBrk="1" hangingPunct="1"/>
            <a:r>
              <a:rPr lang="en-US" dirty="0" err="1"/>
              <a:t>setName</a:t>
            </a:r>
            <a:r>
              <a:rPr lang="en-US" dirty="0"/>
              <a:t>(char *n)</a:t>
            </a:r>
          </a:p>
          <a:p>
            <a:pPr lvl="1" eaLnBrk="1" hangingPunct="1"/>
            <a:r>
              <a:rPr lang="en-US" dirty="0" err="1"/>
              <a:t>setPages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p)</a:t>
            </a:r>
          </a:p>
          <a:p>
            <a:pPr lvl="1" eaLnBrk="1" hangingPunct="1"/>
            <a:r>
              <a:rPr lang="en-US" dirty="0" err="1"/>
              <a:t>setPrice</a:t>
            </a:r>
            <a:r>
              <a:rPr lang="en-US" dirty="0"/>
              <a:t>(float p)</a:t>
            </a:r>
          </a:p>
          <a:p>
            <a:pPr lvl="1" eaLnBrk="1" hangingPunct="1"/>
            <a:r>
              <a:rPr lang="en-US" dirty="0"/>
              <a:t> display()</a:t>
            </a:r>
          </a:p>
          <a:p>
            <a:pPr eaLnBrk="1" hangingPunct="1"/>
            <a:r>
              <a:rPr lang="en-US" dirty="0"/>
              <a:t>These functions are followed by a keyword public, so they can be accessed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244736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Class data and member function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3207" y="2332038"/>
            <a:ext cx="8229600" cy="4525962"/>
          </a:xfrm>
        </p:spPr>
        <p:txBody>
          <a:bodyPr/>
          <a:lstStyle/>
          <a:p>
            <a:pPr eaLnBrk="1" hangingPunct="1"/>
            <a:r>
              <a:rPr lang="en-US" dirty="0"/>
              <a:t>Access specifier label </a:t>
            </a:r>
            <a:r>
              <a:rPr lang="en-US" b="1" dirty="0"/>
              <a:t>public</a:t>
            </a:r>
            <a:r>
              <a:rPr lang="en-US" dirty="0"/>
              <a:t> and </a:t>
            </a:r>
            <a:r>
              <a:rPr lang="en-US" b="1" dirty="0"/>
              <a:t>private</a:t>
            </a:r>
          </a:p>
          <a:p>
            <a:r>
              <a:rPr lang="en-US" dirty="0"/>
              <a:t>Function are public and data is private</a:t>
            </a:r>
          </a:p>
          <a:p>
            <a:pPr eaLnBrk="1" hangingPunct="1"/>
            <a:r>
              <a:rPr lang="en-US" dirty="0"/>
              <a:t>Data is hidden so that it can be safe from accidental manipulation</a:t>
            </a:r>
          </a:p>
          <a:p>
            <a:pPr eaLnBrk="1" hangingPunct="1"/>
            <a:r>
              <a:rPr lang="en-US" dirty="0"/>
              <a:t>Functions operates on data are public so they can be accessed from outside  the class </a:t>
            </a:r>
          </a:p>
        </p:txBody>
      </p:sp>
    </p:spTree>
    <p:extLst>
      <p:ext uri="{BB962C8B-B14F-4D97-AF65-F5344CB8AC3E}">
        <p14:creationId xmlns:p14="http://schemas.microsoft.com/office/powerpoint/2010/main" val="390950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3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/>
              <a:t>Defining Objects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85800" y="4267200"/>
            <a:ext cx="4191000" cy="2286000"/>
            <a:chOff x="990600" y="4343400"/>
            <a:chExt cx="4191000" cy="2286000"/>
          </a:xfrm>
        </p:grpSpPr>
        <p:sp>
          <p:nvSpPr>
            <p:cNvPr id="2" name="Rectangle 1"/>
            <p:cNvSpPr/>
            <p:nvPr/>
          </p:nvSpPr>
          <p:spPr>
            <a:xfrm>
              <a:off x="990600" y="4343400"/>
              <a:ext cx="4191000" cy="2286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042886" y="4967514"/>
              <a:ext cx="2971800" cy="457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61028" y="5424714"/>
              <a:ext cx="1485900" cy="457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042886" y="5881914"/>
              <a:ext cx="1485900" cy="457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90600" y="4960256"/>
              <a:ext cx="1066800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</a:rPr>
                <a:t>name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0600" y="5410200"/>
              <a:ext cx="10668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</a:rPr>
                <a:t>pages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90600" y="5867400"/>
              <a:ext cx="1066800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</a:rPr>
                <a:t>price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43000" y="4419600"/>
              <a:ext cx="685800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b1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752600" y="4891314"/>
            <a:ext cx="2971800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Operating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6228" y="5348514"/>
            <a:ext cx="1485900" cy="4572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6228" y="5805714"/>
            <a:ext cx="14859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150.56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71600"/>
            <a:ext cx="6477000" cy="2376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3315110" cy="757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410200" y="3505200"/>
            <a:ext cx="3581400" cy="299213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555443"/>
            <a:ext cx="3406640" cy="854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5485534"/>
            <a:ext cx="3455942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8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868362"/>
          </a:xfrm>
        </p:spPr>
        <p:txBody>
          <a:bodyPr/>
          <a:lstStyle/>
          <a:p>
            <a:pPr eaLnBrk="1" hangingPunct="1"/>
            <a:r>
              <a:rPr lang="en-US" dirty="0"/>
              <a:t>Continued….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eaLnBrk="1" hangingPunct="1"/>
            <a:r>
              <a:rPr lang="en-US" dirty="0"/>
              <a:t>Defining an object is similar to defining a variable of any data type: Space is set aside for it in memory e.g. </a:t>
            </a:r>
            <a:r>
              <a:rPr lang="en-US" dirty="0" err="1"/>
              <a:t>int</a:t>
            </a:r>
            <a:r>
              <a:rPr lang="en-US" dirty="0"/>
              <a:t> x;</a:t>
            </a:r>
          </a:p>
          <a:p>
            <a:pPr eaLnBrk="1" hangingPunct="1"/>
            <a:r>
              <a:rPr lang="en-US" dirty="0"/>
              <a:t>Defining objects in this way (book b1;) means </a:t>
            </a:r>
            <a:r>
              <a:rPr lang="en-US" i="1" dirty="0"/>
              <a:t>creating them</a:t>
            </a:r>
          </a:p>
          <a:p>
            <a:pPr eaLnBrk="1" hangingPunct="1"/>
            <a:r>
              <a:rPr lang="en-US" dirty="0"/>
              <a:t>An object is an instance (that is, a specific example) of a class. Objects are sometimes called </a:t>
            </a:r>
            <a:r>
              <a:rPr lang="en-US" i="1" dirty="0"/>
              <a:t>instance variables.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77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Calling Member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56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The next four statements in main() call the member function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b1.setName("Operating System");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b1.setPages(500);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b1.setPrice(150.56);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/>
              <a:t>b1.display();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don’t look like normal function calls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This syntax is used to call a member function that is </a:t>
            </a:r>
            <a:r>
              <a:rPr lang="en-US" i="1" dirty="0"/>
              <a:t>associated with a specific object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It doesn’t make sense to say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err="1"/>
              <a:t>changeName</a:t>
            </a:r>
            <a:r>
              <a:rPr lang="en-US" dirty="0"/>
              <a:t>("Operating System");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sz="3000" dirty="0"/>
              <a:t>because a member function is always called to act on a specific object, not on the class in general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664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Cont.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00600"/>
          </a:xfrm>
        </p:spPr>
        <p:txBody>
          <a:bodyPr/>
          <a:lstStyle/>
          <a:p>
            <a:pPr eaLnBrk="1" hangingPunct="1"/>
            <a:r>
              <a:rPr lang="en-US" dirty="0"/>
              <a:t>To use a member function, the dot operator (the period) connects the object name and the member function.</a:t>
            </a:r>
          </a:p>
          <a:p>
            <a:pPr eaLnBrk="1" hangingPunct="1"/>
            <a:r>
              <a:rPr lang="en-US" dirty="0"/>
              <a:t>The syntax is similar to the way we refer to structure members, but the parentheses signal that we’re executing a member function rather than referring to a data item.</a:t>
            </a:r>
          </a:p>
          <a:p>
            <a:pPr eaLnBrk="1" hangingPunct="1"/>
            <a:r>
              <a:rPr lang="en-US" dirty="0"/>
              <a:t>The dot operator is also called the </a:t>
            </a:r>
            <a:r>
              <a:rPr lang="en-US" i="1" dirty="0"/>
              <a:t>class member access operator.</a:t>
            </a:r>
          </a:p>
          <a:p>
            <a:pPr eaLnBrk="1" hangingPunct="1"/>
            <a:r>
              <a:rPr lang="en-US" dirty="0"/>
              <a:t>Programming implementation of the previous program</a:t>
            </a:r>
          </a:p>
        </p:txBody>
      </p:sp>
    </p:spTree>
    <p:extLst>
      <p:ext uri="{BB962C8B-B14F-4D97-AF65-F5344CB8AC3E}">
        <p14:creationId xmlns:p14="http://schemas.microsoft.com/office/powerpoint/2010/main" val="226491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members, set and get functions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889"/>
            <a:ext cx="7467600" cy="1831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28" y="3429000"/>
            <a:ext cx="6803571" cy="1151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28" y="5820228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24400"/>
            <a:ext cx="6172200" cy="50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181600"/>
            <a:ext cx="6526161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32" y="5562600"/>
            <a:ext cx="4612368" cy="202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89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05539"/>
            <a:ext cx="7886700" cy="11815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45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628650" y="3005539"/>
            <a:ext cx="7886700" cy="118155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45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628650" y="3005539"/>
            <a:ext cx="7886700" cy="118155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45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8316</TotalTime>
  <Words>781</Words>
  <Application>Microsoft Macintosh PowerPoint</Application>
  <PresentationFormat>On-screen Show (4:3)</PresentationFormat>
  <Paragraphs>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Object-Oriented Programming</vt:lpstr>
      <vt:lpstr>Previous lecture</vt:lpstr>
      <vt:lpstr>Today’s Lecture</vt:lpstr>
      <vt:lpstr>Member function with parameter</vt:lpstr>
      <vt:lpstr>Access Specifier</vt:lpstr>
      <vt:lpstr>Setter and Getter Functions</vt:lpstr>
      <vt:lpstr>A book class</vt:lpstr>
      <vt:lpstr>Class data</vt:lpstr>
      <vt:lpstr>Member function</vt:lpstr>
      <vt:lpstr>Class data and member function</vt:lpstr>
      <vt:lpstr>Defining Objects</vt:lpstr>
      <vt:lpstr>Continued….</vt:lpstr>
      <vt:lpstr>Calling Member Functions</vt:lpstr>
      <vt:lpstr>Cont.</vt:lpstr>
      <vt:lpstr>Data members, set and get functions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Computers &amp; Programming  </dc:title>
  <dc:creator>Najmus Saqib</dc:creator>
  <cp:lastModifiedBy>Microsoft Office User</cp:lastModifiedBy>
  <cp:revision>431</cp:revision>
  <dcterms:created xsi:type="dcterms:W3CDTF">2006-08-16T00:00:00Z</dcterms:created>
  <dcterms:modified xsi:type="dcterms:W3CDTF">2026-07-17T17:08:31Z</dcterms:modified>
</cp:coreProperties>
</file>