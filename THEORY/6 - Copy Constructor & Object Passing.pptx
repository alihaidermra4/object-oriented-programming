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6" r:id="rId3"/>
    <p:sldId id="267" r:id="rId4"/>
    <p:sldId id="269" r:id="rId5"/>
    <p:sldId id="268" r:id="rId6"/>
    <p:sldId id="270" r:id="rId7"/>
    <p:sldId id="271" r:id="rId8"/>
    <p:sldId id="275" r:id="rId9"/>
    <p:sldId id="272" r:id="rId10"/>
    <p:sldId id="274" r:id="rId11"/>
    <p:sldId id="273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648"/>
  </p:normalViewPr>
  <p:slideViewPr>
    <p:cSldViewPr snapToGrid="0">
      <p:cViewPr varScale="1">
        <p:scale>
          <a:sx n="116" d="100"/>
          <a:sy n="116" d="100"/>
        </p:scale>
        <p:origin x="20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74A6-3486-CEBB-7B3C-A0D8D7404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2772E-6BF2-07BC-A123-1E14A7A57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908D5-1EBC-B314-CD17-F710D36C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C1FCA-FC01-1A25-F163-3AE086E89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511B0-D414-AFE8-55F9-DD3D9919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229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D55C-0889-7BF1-ED09-068AD543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2D896-E10B-B7DA-8ED6-A75CF9E33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63BA5-FD8D-7D66-3FF9-FC52F8B1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E0EE3-12C2-E477-B55C-F3522575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BE645-FF5D-28AE-9C60-D8CE6D57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246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2605-1099-8D96-42AC-BAF5114A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0EFE4-8D9A-AAC5-51AF-5AEFD3E60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EEDB1-408E-81B1-DCDD-47CFBAB0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65684-6FAB-EB39-B4B3-32F2CF97E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4839F-A15C-B52F-C060-1F4E2F96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243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677E-443C-1372-4DA2-82BF5FB5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8DC6B-0882-D1AA-9067-00DA92311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6EEF1-350D-8169-B11C-B4526887B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6A852-0831-3634-88FE-D168ADA64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17E0B-CF33-066A-F303-DCE85088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428FC-579B-7136-C517-60FD74B5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6728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CA0E-D9E9-2832-EA04-50415929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34A9D-4197-DD71-1593-D5FC646B0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D7CB1-5DFD-F1C0-280A-408A3D396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07FEA-87B8-E257-D937-B8DD1FD91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C0A731-F7AE-6170-556C-FC33E4A82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5A504-606E-38AE-AD4A-02E21F4D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258D57-22D0-48D2-A0B0-52CD18AF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28C1C7-D1FC-BD99-195D-46EBC997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281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333C-9180-7F02-0975-EB604602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BC407-B6A0-2C6C-9861-617ED338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A43D5-908E-A819-B4D6-71231101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67765-88B4-53BE-FB18-1BA002D6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907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2C2FE-9C39-2697-967E-79D60C4F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6E2B1-F99A-CA39-AB3D-774523DA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93E33-02D7-77E5-4A05-0EFC58D1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430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2E82-C82F-DA1C-B68A-52024C23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B2E36-2BF7-C552-BF94-A246C81F3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6278C-8DE4-60A1-C942-C52178EDD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06CD0-D943-4F68-B733-850CD7B2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730A8-BED5-6566-8938-0191AA838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47DB4-9666-D112-8BE7-0487D50F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80466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47B1-2162-ADFD-AD1D-91A13732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2F9E4-651F-4ABE-2B05-CDC5BFA71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42846-B684-CBCC-0518-34138420A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3F6B4-9E15-1580-F8E9-4B7EAD33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02D62-B57E-02D4-39B8-57B08AB1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195C1-F4B4-138C-FE72-3884CA32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6705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BD72-38C5-DFA2-28CA-2A01DE38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FEFBE-1C46-DE61-DD8D-ACA049D26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51CFE-92D2-E19C-8773-180B6526C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A9927-B32F-ADF3-B1DE-C032493E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672E8-EFD5-878D-EAC8-C2EA47A5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9333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8F3B9-E62D-DD81-AA7F-31DDBA2B6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307DB-8D97-992C-1DA3-1A7BA616C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4DC32-2782-6B94-F2E0-678477737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FB17B-ECC4-2725-0442-DE14676F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395DC-CFE8-5C81-E504-01691928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860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6E4CF7-BC1E-6FB6-5522-2AC188A6D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8B65F-F070-67BC-E9A0-38B45928C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E9B9C-174B-870D-D462-5902FDFC6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37645-3BCE-0FDA-61B8-FD168DBE0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C82DE-6318-99DF-B090-F4FB4FF4F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726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EA65-A08C-0C4C-54E9-A686CB423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9483" y="802874"/>
            <a:ext cx="10168569" cy="2387600"/>
          </a:xfrm>
        </p:spPr>
        <p:txBody>
          <a:bodyPr/>
          <a:lstStyle/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64B5B-AB60-D6AB-2E5B-1A3A46311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7463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Ali Haider</a:t>
            </a: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Instructor</a:t>
            </a: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CS &amp; IT</a:t>
            </a: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Management Sciences, Peshawar, Pakistan</a:t>
            </a:r>
          </a:p>
        </p:txBody>
      </p:sp>
    </p:spTree>
    <p:extLst>
      <p:ext uri="{BB962C8B-B14F-4D97-AF65-F5344CB8AC3E}">
        <p14:creationId xmlns:p14="http://schemas.microsoft.com/office/powerpoint/2010/main" val="311682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C3DCD-C6C5-54A4-C574-7132D7C8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Passing Object by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8B589-924F-9B4D-7984-DD4631732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actual object itself (its memory address) is passed — no copy is made.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copy constructor is called.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Changes made inside the function DO affect the original object.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More efficient (no copying overhead), commonly preferred for large objects.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14490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FD445-1B9F-083D-2EEF-6E05B1EC5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A0FA4-A37C-0064-50AD-EE73ADF8D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void </a:t>
            </a:r>
            <a:r>
              <a:rPr lang="en-GB" dirty="0" err="1"/>
              <a:t>updateMarks</a:t>
            </a:r>
            <a:r>
              <a:rPr lang="en-GB" dirty="0"/>
              <a:t>(Student &amp;s) {    // pass by reference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s.marks</a:t>
            </a:r>
            <a:r>
              <a:rPr lang="en-GB" dirty="0"/>
              <a:t> = 100;                 // modifies the ORIGINAL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r>
              <a:rPr lang="en-GB" dirty="0"/>
              <a:t>int main() {</a:t>
            </a:r>
          </a:p>
          <a:p>
            <a:pPr marL="0" indent="0">
              <a:buNone/>
            </a:pPr>
            <a:r>
              <a:rPr lang="en-GB" dirty="0"/>
              <a:t>    Student s1(50);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updateMarks</a:t>
            </a:r>
            <a:r>
              <a:rPr lang="en-GB" dirty="0"/>
              <a:t>(s1);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cout</a:t>
            </a:r>
            <a:r>
              <a:rPr lang="en-GB" dirty="0"/>
              <a:t> &lt;&lt; s1.marks;   // now 100, changed!</a:t>
            </a:r>
          </a:p>
          <a:p>
            <a:pPr marL="0" indent="0">
              <a:buNone/>
            </a:pPr>
            <a:r>
              <a:rPr lang="en-GB" dirty="0"/>
              <a:t>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39565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AA7D-670D-37D2-79CF-96ED56251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Passing Object by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C68D0-3D23-0966-0638-AF5AC9AFC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copy of the object is created and passed to the function. </a:t>
            </a:r>
          </a:p>
          <a:p>
            <a:r>
              <a:rPr lang="en-GB" dirty="0"/>
              <a:t>The function's copy constructor is invoked to make this copy. </a:t>
            </a:r>
          </a:p>
          <a:p>
            <a:r>
              <a:rPr lang="en-GB" dirty="0"/>
              <a:t>Any changes made inside the function do NOT affect the original object. </a:t>
            </a:r>
          </a:p>
          <a:p>
            <a:r>
              <a:rPr lang="en-GB" dirty="0"/>
              <a:t>Downside: Extra memory + time cost for copying, especially for large objects.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85980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06DB-0C42-A22A-A826-D4BD6E957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FDDA1-7F87-F4C3-B823-F2DF21FC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class Student {</a:t>
            </a:r>
          </a:p>
          <a:p>
            <a:pPr marL="0" indent="0">
              <a:buNone/>
            </a:pPr>
            <a:r>
              <a:rPr lang="en-GB" dirty="0"/>
              <a:t>public:</a:t>
            </a:r>
          </a:p>
          <a:p>
            <a:pPr marL="0" indent="0">
              <a:buNone/>
            </a:pPr>
            <a:r>
              <a:rPr lang="en-GB" dirty="0"/>
              <a:t>    int marks;</a:t>
            </a:r>
          </a:p>
          <a:p>
            <a:pPr marL="0" indent="0">
              <a:buNone/>
            </a:pPr>
            <a:r>
              <a:rPr lang="en-GB" dirty="0"/>
              <a:t>    Student(int m) { marks = m; }</a:t>
            </a:r>
          </a:p>
          <a:p>
            <a:pPr marL="0" indent="0">
              <a:buNone/>
            </a:pPr>
            <a:r>
              <a:rPr lang="en-GB" dirty="0"/>
              <a:t>    Student(</a:t>
            </a:r>
            <a:r>
              <a:rPr lang="en-GB" dirty="0" err="1"/>
              <a:t>const</a:t>
            </a:r>
            <a:r>
              <a:rPr lang="en-GB" dirty="0"/>
              <a:t> Student &amp;s) {   </a:t>
            </a:r>
          </a:p>
          <a:p>
            <a:pPr marL="0" indent="0">
              <a:buNone/>
            </a:pPr>
            <a:r>
              <a:rPr lang="en-GB" dirty="0"/>
              <a:t>// copy constructor called here</a:t>
            </a:r>
          </a:p>
          <a:p>
            <a:pPr marL="0" indent="0">
              <a:buNone/>
            </a:pPr>
            <a:r>
              <a:rPr lang="en-GB" dirty="0"/>
              <a:t>        marks = </a:t>
            </a:r>
            <a:r>
              <a:rPr lang="en-GB" dirty="0" err="1"/>
              <a:t>s.marks</a:t>
            </a:r>
            <a:r>
              <a:rPr lang="en-GB" dirty="0"/>
              <a:t>;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cout</a:t>
            </a:r>
            <a:r>
              <a:rPr lang="en-GB" dirty="0"/>
              <a:t> &lt;&lt; "Copy constructor called" &lt;&lt; </a:t>
            </a:r>
            <a:r>
              <a:rPr lang="en-GB" dirty="0" err="1"/>
              <a:t>endl</a:t>
            </a:r>
            <a:r>
              <a:rPr lang="en-GB" dirty="0"/>
              <a:t>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void </a:t>
            </a:r>
            <a:r>
              <a:rPr lang="en-GB" dirty="0" err="1"/>
              <a:t>updateMarks</a:t>
            </a:r>
            <a:r>
              <a:rPr lang="en-GB" dirty="0"/>
              <a:t>(Student s) {     </a:t>
            </a:r>
          </a:p>
          <a:p>
            <a:pPr marL="0" indent="0">
              <a:buNone/>
            </a:pPr>
            <a:r>
              <a:rPr lang="en-GB" dirty="0"/>
              <a:t>// pass by value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s.marks</a:t>
            </a:r>
            <a:r>
              <a:rPr lang="en-GB" dirty="0"/>
              <a:t> = 100;               </a:t>
            </a:r>
          </a:p>
          <a:p>
            <a:pPr marL="0" indent="0">
              <a:buNone/>
            </a:pPr>
            <a:r>
              <a:rPr lang="en-GB" dirty="0"/>
              <a:t>// modifies the COPY only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r>
              <a:rPr lang="en-GB" dirty="0"/>
              <a:t>int main() {</a:t>
            </a:r>
          </a:p>
          <a:p>
            <a:pPr marL="0" indent="0">
              <a:buNone/>
            </a:pPr>
            <a:r>
              <a:rPr lang="en-GB" dirty="0"/>
              <a:t>    Student s1(50);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updateMarks</a:t>
            </a:r>
            <a:r>
              <a:rPr lang="en-GB" dirty="0"/>
              <a:t>(s1);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cout</a:t>
            </a:r>
            <a:r>
              <a:rPr lang="en-GB" dirty="0"/>
              <a:t> &lt;&lt; s1.marks;   // still 50, unaffected</a:t>
            </a:r>
          </a:p>
          <a:p>
            <a:pPr marL="0" indent="0">
              <a:buNone/>
            </a:pPr>
            <a:r>
              <a:rPr lang="en-GB" dirty="0"/>
              <a:t>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93102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3D5BA-D2AA-F889-A219-5083EAF5A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Copy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5B946-61C5-1C66-2D86-8F2F1DD94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311"/>
            <a:ext cx="10515600" cy="4667652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Creates a </a:t>
            </a:r>
            <a:r>
              <a:rPr lang="en-GB" b="1" dirty="0"/>
              <a:t>new object as a copy</a:t>
            </a:r>
            <a:r>
              <a:rPr lang="en-GB" dirty="0"/>
              <a:t> of an existing object of the same class. </a:t>
            </a:r>
          </a:p>
          <a:p>
            <a:r>
              <a:rPr lang="en-GB" dirty="0"/>
              <a:t>Signature: </a:t>
            </a:r>
            <a:r>
              <a:rPr lang="en-GB" dirty="0" err="1"/>
              <a:t>ClassName</a:t>
            </a:r>
            <a:r>
              <a:rPr lang="en-GB" dirty="0"/>
              <a:t>(</a:t>
            </a:r>
            <a:r>
              <a:rPr lang="en-GB" dirty="0" err="1"/>
              <a:t>ClassName</a:t>
            </a:r>
            <a:r>
              <a:rPr lang="en-GB" dirty="0"/>
              <a:t> &amp;</a:t>
            </a:r>
            <a:r>
              <a:rPr lang="en-GB" dirty="0" err="1"/>
              <a:t>obj</a:t>
            </a:r>
            <a:r>
              <a:rPr lang="en-GB" dirty="0"/>
              <a:t>)</a:t>
            </a:r>
          </a:p>
          <a:p>
            <a:pPr marL="0" indent="0">
              <a:buNone/>
            </a:pPr>
            <a:endParaRPr lang="en-GB" dirty="0"/>
          </a:p>
          <a:p>
            <a:pPr marL="914400" lvl="2" indent="0">
              <a:buNone/>
            </a:pPr>
            <a:r>
              <a:rPr lang="en-GB" dirty="0"/>
              <a:t>class Student {</a:t>
            </a:r>
          </a:p>
          <a:p>
            <a:pPr marL="914400" lvl="2" indent="0">
              <a:buNone/>
            </a:pPr>
            <a:r>
              <a:rPr lang="en-GB" dirty="0"/>
              <a:t>    string name;</a:t>
            </a:r>
          </a:p>
          <a:p>
            <a:pPr marL="914400" lvl="2" indent="0">
              <a:buNone/>
            </a:pPr>
            <a:r>
              <a:rPr lang="en-GB" dirty="0"/>
              <a:t>public:</a:t>
            </a:r>
          </a:p>
          <a:p>
            <a:pPr marL="914400" lvl="2" indent="0">
              <a:buNone/>
            </a:pPr>
            <a:r>
              <a:rPr lang="en-GB" dirty="0"/>
              <a:t>    Student(string n) { name = n; }</a:t>
            </a:r>
          </a:p>
          <a:p>
            <a:pPr marL="914400" lvl="2" indent="0">
              <a:buNone/>
            </a:pPr>
            <a:r>
              <a:rPr lang="en-GB" dirty="0"/>
              <a:t>    Student(</a:t>
            </a:r>
            <a:r>
              <a:rPr lang="en-GB" dirty="0" err="1"/>
              <a:t>const</a:t>
            </a:r>
            <a:r>
              <a:rPr lang="en-GB" dirty="0"/>
              <a:t> Student &amp;s) {   // copy constructor</a:t>
            </a:r>
          </a:p>
          <a:p>
            <a:pPr marL="914400" lvl="2" indent="0">
              <a:buNone/>
            </a:pPr>
            <a:r>
              <a:rPr lang="en-GB" dirty="0"/>
              <a:t>        name = </a:t>
            </a:r>
            <a:r>
              <a:rPr lang="en-GB" dirty="0" err="1"/>
              <a:t>s.name</a:t>
            </a:r>
            <a:r>
              <a:rPr lang="en-GB" dirty="0"/>
              <a:t>;</a:t>
            </a:r>
          </a:p>
          <a:p>
            <a:pPr marL="914400" lvl="2" indent="0">
              <a:buNone/>
            </a:pPr>
            <a:r>
              <a:rPr lang="en-GB" dirty="0"/>
              <a:t>        </a:t>
            </a:r>
            <a:r>
              <a:rPr lang="en-GB" dirty="0" err="1"/>
              <a:t>cout</a:t>
            </a:r>
            <a:r>
              <a:rPr lang="en-GB" dirty="0"/>
              <a:t> &lt;&lt; "Copy constructor called";</a:t>
            </a:r>
          </a:p>
          <a:p>
            <a:pPr marL="914400" lvl="2" indent="0">
              <a:buNone/>
            </a:pPr>
            <a:r>
              <a:rPr lang="en-GB" dirty="0"/>
              <a:t>    }</a:t>
            </a:r>
          </a:p>
          <a:p>
            <a:pPr marL="914400" lvl="2" indent="0">
              <a:buNone/>
            </a:pPr>
            <a:r>
              <a:rPr lang="en-GB" dirty="0"/>
              <a:t>};</a:t>
            </a:r>
          </a:p>
          <a:p>
            <a:pPr marL="914400" lvl="2" indent="0">
              <a:buNone/>
            </a:pPr>
            <a:r>
              <a:rPr lang="en-GB" dirty="0"/>
              <a:t>int main() {</a:t>
            </a:r>
          </a:p>
          <a:p>
            <a:pPr marL="914400" lvl="2" indent="0">
              <a:buNone/>
            </a:pPr>
            <a:r>
              <a:rPr lang="en-GB" dirty="0"/>
              <a:t>    Student s1("Ali");</a:t>
            </a:r>
          </a:p>
          <a:p>
            <a:pPr marL="914400" lvl="2" indent="0">
              <a:buNone/>
            </a:pPr>
            <a:r>
              <a:rPr lang="en-GB" dirty="0"/>
              <a:t>    Student s2 = s1;    // copy constructor invoked</a:t>
            </a:r>
          </a:p>
          <a:p>
            <a:pPr marL="914400" lvl="2" indent="0">
              <a:buNone/>
            </a:pPr>
            <a:r>
              <a:rPr lang="en-GB" dirty="0"/>
              <a:t>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94765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B626B-94F8-4B59-7039-9DFCCCE10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Shallow Copy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46324-E12C-BFD0-881C-F96DC6F3D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77"/>
              </a:rPr>
              <a:t>In shallow copy, all variable values are copied, but dynamically allocated memory addresses are shared between objects.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77"/>
              </a:rPr>
              <a:t>Both objects point to the same heap memory, so changes made through one object affect the other.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77"/>
              </a:rPr>
              <a:t>This can lead to runtime errors like dangling pointers and double deletion, so it does not create an independent copy.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32543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DF372-7C2B-21D1-5CB2-5CA866FB3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1AD25-8FFB-730F-AA13-5E793EAEB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85000" lnSpcReduction="10000"/>
          </a:bodyPr>
          <a:lstStyle/>
          <a:p>
            <a:pPr marL="0" indent="0">
              <a:buNone/>
            </a:pPr>
            <a:r>
              <a:rPr lang="en-GB" dirty="0"/>
              <a:t>#include &lt;iostream&gt;</a:t>
            </a:r>
          </a:p>
          <a:p>
            <a:pPr marL="0" indent="0">
              <a:buNone/>
            </a:pPr>
            <a:r>
              <a:rPr lang="en-GB" dirty="0"/>
              <a:t>using namespace std;</a:t>
            </a:r>
          </a:p>
          <a:p>
            <a:pPr marL="0" indent="0">
              <a:buNone/>
            </a:pPr>
            <a:r>
              <a:rPr lang="en-GB" dirty="0"/>
              <a:t>class Sample {</a:t>
            </a:r>
          </a:p>
          <a:p>
            <a:pPr marL="0" indent="0">
              <a:buNone/>
            </a:pPr>
            <a:r>
              <a:rPr lang="en-GB" dirty="0"/>
              <a:t>public:</a:t>
            </a:r>
          </a:p>
          <a:p>
            <a:pPr marL="0" indent="0">
              <a:buNone/>
            </a:pPr>
            <a:r>
              <a:rPr lang="en-GB" dirty="0"/>
              <a:t>    int *x;</a:t>
            </a:r>
          </a:p>
          <a:p>
            <a:pPr marL="0" indent="0">
              <a:buNone/>
            </a:pPr>
            <a:r>
              <a:rPr lang="en-GB" dirty="0"/>
              <a:t>    Sample(int </a:t>
            </a:r>
            <a:r>
              <a:rPr lang="en-GB" dirty="0" err="1"/>
              <a:t>val</a:t>
            </a:r>
            <a:r>
              <a:rPr lang="en-GB" dirty="0"/>
              <a:t>) {</a:t>
            </a:r>
          </a:p>
          <a:p>
            <a:pPr marL="0" indent="0">
              <a:buNone/>
            </a:pPr>
            <a:r>
              <a:rPr lang="en-GB" dirty="0"/>
              <a:t>        x = new int;</a:t>
            </a:r>
          </a:p>
          <a:p>
            <a:pPr marL="0" indent="0">
              <a:buNone/>
            </a:pPr>
            <a:r>
              <a:rPr lang="en-GB" dirty="0"/>
              <a:t>        *x = </a:t>
            </a:r>
            <a:r>
              <a:rPr lang="en-GB" dirty="0" err="1"/>
              <a:t>val</a:t>
            </a:r>
            <a:r>
              <a:rPr lang="en-GB" dirty="0"/>
              <a:t>;</a:t>
            </a:r>
          </a:p>
          <a:p>
            <a:pPr marL="0" indent="0">
              <a:buNone/>
            </a:pPr>
            <a:r>
              <a:rPr lang="en-GB" dirty="0"/>
              <a:t>    }		};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int main() {</a:t>
            </a:r>
          </a:p>
          <a:p>
            <a:pPr marL="0" indent="0">
              <a:buNone/>
            </a:pPr>
            <a:r>
              <a:rPr lang="en-GB" dirty="0"/>
              <a:t>    Sample obj1(10);     // Original object</a:t>
            </a:r>
          </a:p>
          <a:p>
            <a:pPr marL="0" indent="0">
              <a:buNone/>
            </a:pPr>
            <a:r>
              <a:rPr lang="en-GB" dirty="0"/>
              <a:t>    Sample obj2 = obj1; // Shallow copy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*obj2.x = 50;       </a:t>
            </a:r>
          </a:p>
          <a:p>
            <a:pPr marL="0" indent="0">
              <a:buNone/>
            </a:pPr>
            <a:r>
              <a:rPr lang="en-GB" dirty="0"/>
              <a:t>// Modify copied object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cout</a:t>
            </a:r>
            <a:r>
              <a:rPr lang="en-GB" dirty="0"/>
              <a:t> &lt;&lt; "obj1.x = " &lt;&lt; *obj1.x &lt;&lt; </a:t>
            </a:r>
            <a:r>
              <a:rPr lang="en-GB" dirty="0" err="1"/>
              <a:t>endl</a:t>
            </a:r>
            <a:r>
              <a:rPr lang="en-GB" dirty="0"/>
              <a:t>;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cout</a:t>
            </a:r>
            <a:r>
              <a:rPr lang="en-GB" dirty="0"/>
              <a:t> &lt;&lt; "obj2.x = " &lt;&lt; *obj2.x &lt;&lt; </a:t>
            </a:r>
            <a:r>
              <a:rPr lang="en-GB" dirty="0" err="1"/>
              <a:t>endl</a:t>
            </a:r>
            <a:r>
              <a:rPr lang="en-GB" dirty="0"/>
              <a:t>;</a:t>
            </a:r>
          </a:p>
          <a:p>
            <a:pPr marL="0" indent="0">
              <a:buNone/>
            </a:pPr>
            <a:r>
              <a:rPr lang="en-GB" dirty="0"/>
              <a:t>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85343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2810E-D7DD-BFFB-C28A-1D8F01DB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Deep Copy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CAEA7-06B8-CF1C-6FDF-A0B321A2F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77"/>
              </a:rPr>
              <a:t>In deep copy, a new object is created by copying all variable values and allocating separate memory for dynamically allocated variables.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77"/>
              </a:rPr>
              <a:t>Both the original and copied objects store their data in different memory locations.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77"/>
              </a:rPr>
              <a:t>Changes made to one object do not affect the other because a custom copy constructor is used.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54796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91CBF-68A8-4531-24EB-C324C5D06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A48B0-6E2C-2467-FEDC-D90B740DA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2361"/>
            <a:ext cx="10515600" cy="4634602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GB" sz="2400" dirty="0"/>
              <a:t>class Sample {</a:t>
            </a:r>
          </a:p>
          <a:p>
            <a:pPr marL="0" indent="0">
              <a:buNone/>
            </a:pPr>
            <a:r>
              <a:rPr lang="en-GB" sz="2400" dirty="0"/>
              <a:t>public:</a:t>
            </a:r>
          </a:p>
          <a:p>
            <a:pPr marL="0" indent="0">
              <a:buNone/>
            </a:pPr>
            <a:r>
              <a:rPr lang="en-GB" sz="2400" dirty="0"/>
              <a:t>    int *x;</a:t>
            </a:r>
          </a:p>
          <a:p>
            <a:pPr marL="0" indent="0">
              <a:buNone/>
            </a:pPr>
            <a:r>
              <a:rPr lang="en-GB" sz="2400" dirty="0"/>
              <a:t>    Sample(int </a:t>
            </a:r>
            <a:r>
              <a:rPr lang="en-GB" sz="2400" dirty="0" err="1"/>
              <a:t>val</a:t>
            </a:r>
            <a:r>
              <a:rPr lang="en-GB" sz="2400" dirty="0"/>
              <a:t>) {</a:t>
            </a:r>
          </a:p>
          <a:p>
            <a:pPr marL="0" indent="0">
              <a:buNone/>
            </a:pPr>
            <a:r>
              <a:rPr lang="en-GB" sz="2400" dirty="0"/>
              <a:t>        x = new int;</a:t>
            </a:r>
          </a:p>
          <a:p>
            <a:pPr marL="0" indent="0">
              <a:buNone/>
            </a:pPr>
            <a:r>
              <a:rPr lang="en-GB" sz="2400" dirty="0"/>
              <a:t>        *x = </a:t>
            </a:r>
            <a:r>
              <a:rPr lang="en-GB" sz="2400" dirty="0" err="1"/>
              <a:t>val</a:t>
            </a:r>
            <a:r>
              <a:rPr lang="en-GB" sz="2400" dirty="0"/>
              <a:t>;		}</a:t>
            </a:r>
          </a:p>
          <a:p>
            <a:pPr marL="0" indent="0">
              <a:buNone/>
            </a:pPr>
            <a:r>
              <a:rPr lang="en-GB" sz="2400" dirty="0"/>
              <a:t>    // Deep Copy Constructor</a:t>
            </a:r>
          </a:p>
          <a:p>
            <a:pPr marL="0" indent="0">
              <a:buNone/>
            </a:pPr>
            <a:r>
              <a:rPr lang="en-GB" sz="2400" dirty="0"/>
              <a:t>    Sample(Sample &amp;</a:t>
            </a:r>
            <a:r>
              <a:rPr lang="en-GB" sz="2400" dirty="0" err="1"/>
              <a:t>obj</a:t>
            </a:r>
            <a:r>
              <a:rPr lang="en-GB" sz="2400" dirty="0"/>
              <a:t>) {</a:t>
            </a:r>
          </a:p>
          <a:p>
            <a:pPr marL="0" indent="0">
              <a:buNone/>
            </a:pPr>
            <a:r>
              <a:rPr lang="en-GB" sz="2400" dirty="0"/>
              <a:t>        x = new int;</a:t>
            </a:r>
          </a:p>
          <a:p>
            <a:pPr marL="0" indent="0">
              <a:buNone/>
            </a:pPr>
            <a:r>
              <a:rPr lang="en-GB" sz="2400" dirty="0"/>
              <a:t>        *x = *(</a:t>
            </a:r>
            <a:r>
              <a:rPr lang="en-GB" sz="2400" dirty="0" err="1"/>
              <a:t>obj.x</a:t>
            </a:r>
            <a:r>
              <a:rPr lang="en-GB" sz="2400" dirty="0"/>
              <a:t>);</a:t>
            </a:r>
          </a:p>
          <a:p>
            <a:pPr marL="0" indent="0">
              <a:buNone/>
            </a:pPr>
            <a:r>
              <a:rPr lang="en-GB" sz="2400" dirty="0"/>
              <a:t>    }		};</a:t>
            </a:r>
          </a:p>
          <a:p>
            <a:pPr marL="0" indent="0">
              <a:buNone/>
            </a:pPr>
            <a:r>
              <a:rPr lang="en-GB" sz="2400" dirty="0"/>
              <a:t>int main() {</a:t>
            </a:r>
          </a:p>
          <a:p>
            <a:pPr marL="0" indent="0">
              <a:buNone/>
            </a:pPr>
            <a:r>
              <a:rPr lang="en-GB" sz="2400" dirty="0"/>
              <a:t>    Sample obj1(10);      </a:t>
            </a:r>
            <a:r>
              <a:rPr lang="en-GB" sz="2000" dirty="0"/>
              <a:t>// Original object</a:t>
            </a:r>
            <a:endParaRPr lang="en-GB" sz="2400" dirty="0"/>
          </a:p>
          <a:p>
            <a:pPr marL="0" indent="0">
              <a:buNone/>
            </a:pPr>
            <a:r>
              <a:rPr lang="en-GB" sz="2400" dirty="0"/>
              <a:t>    Sample obj2 = obj1;  </a:t>
            </a:r>
            <a:r>
              <a:rPr lang="en-GB" sz="2000" dirty="0"/>
              <a:t>// Deep copy</a:t>
            </a:r>
            <a:endParaRPr lang="en-GB" sz="2400" dirty="0"/>
          </a:p>
          <a:p>
            <a:pPr marL="0" indent="0">
              <a:buNone/>
            </a:pPr>
            <a:r>
              <a:rPr lang="en-GB" sz="2400" dirty="0"/>
              <a:t>    *obj2.x = 50;        </a:t>
            </a:r>
            <a:r>
              <a:rPr lang="en-GB" sz="2000" dirty="0"/>
              <a:t>// Modify copied object</a:t>
            </a:r>
            <a:endParaRPr lang="en-GB" sz="2400" dirty="0"/>
          </a:p>
          <a:p>
            <a:pPr marL="0" indent="0">
              <a:buNone/>
            </a:pPr>
            <a:r>
              <a:rPr lang="en-GB" sz="2400" dirty="0"/>
              <a:t>    </a:t>
            </a:r>
            <a:r>
              <a:rPr lang="en-GB" sz="2400" dirty="0" err="1"/>
              <a:t>cout</a:t>
            </a:r>
            <a:r>
              <a:rPr lang="en-GB" sz="2400" dirty="0"/>
              <a:t> &lt;&lt; "obj1.x = " &lt;&lt; *obj1.x &lt;&lt; </a:t>
            </a:r>
            <a:r>
              <a:rPr lang="en-GB" sz="2400" dirty="0" err="1"/>
              <a:t>endl</a:t>
            </a:r>
            <a:r>
              <a:rPr lang="en-GB" sz="2400" dirty="0"/>
              <a:t>;</a:t>
            </a:r>
          </a:p>
          <a:p>
            <a:pPr marL="0" indent="0">
              <a:buNone/>
            </a:pPr>
            <a:r>
              <a:rPr lang="en-GB" sz="2400" dirty="0"/>
              <a:t>    </a:t>
            </a:r>
            <a:r>
              <a:rPr lang="en-GB" sz="2400" dirty="0" err="1"/>
              <a:t>cout</a:t>
            </a:r>
            <a:r>
              <a:rPr lang="en-GB" sz="2400" dirty="0"/>
              <a:t> &lt;&lt; "obj2.x = " &lt;&lt; *obj2.x &lt;&lt; </a:t>
            </a:r>
            <a:r>
              <a:rPr lang="en-GB" sz="2400" dirty="0" err="1"/>
              <a:t>endl</a:t>
            </a:r>
            <a:r>
              <a:rPr lang="en-GB" sz="2400" dirty="0"/>
              <a:t>;</a:t>
            </a:r>
          </a:p>
          <a:p>
            <a:pPr marL="0" indent="0">
              <a:buNone/>
            </a:pPr>
            <a:r>
              <a:rPr lang="en-GB" sz="2400" dirty="0"/>
              <a:t>}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496833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98D24-9CC4-2A8A-03A6-60AAA45D9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DF5FAA0-9E25-D14C-4FA7-C5BFE3AF00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1845111"/>
              </p:ext>
            </p:extLst>
          </p:nvPr>
        </p:nvGraphicFramePr>
        <p:xfrm>
          <a:off x="838199" y="1825624"/>
          <a:ext cx="10515600" cy="442093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27393625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626000823"/>
                    </a:ext>
                  </a:extLst>
                </a:gridCol>
              </a:tblGrid>
              <a:tr h="475273"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1600" b="1">
                          <a:effectLst/>
                        </a:rPr>
                        <a:t>Shallow Copy </a:t>
                      </a:r>
                      <a:endParaRPr lang="en-GB" sz="1600" b="1">
                        <a:effectLst/>
                        <a:latin typeface="Nunito" pitchFamily="2" charset="77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1600" b="1">
                          <a:effectLst/>
                        </a:rPr>
                        <a:t>Deep copy</a:t>
                      </a:r>
                      <a:endParaRPr lang="en-GB" sz="1600" b="1">
                        <a:effectLst/>
                        <a:latin typeface="Nunito" pitchFamily="2" charset="77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091568030"/>
                  </a:ext>
                </a:extLst>
              </a:tr>
              <a:tr h="1210602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>
                          <a:effectLst/>
                        </a:rPr>
                        <a:t>When we create a copy of object by copying data of all member variables as it is, then it is called shallow copy </a:t>
                      </a:r>
                      <a:endParaRPr lang="en-GB" sz="1400" b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>
                          <a:effectLst/>
                        </a:rPr>
                        <a:t>When we create an object by copying data of another object along with the values of memory resources that reside outside the object, then it is called a deep copy</a:t>
                      </a:r>
                      <a:endParaRPr lang="en-GB" sz="1400" b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139489"/>
                  </a:ext>
                </a:extLst>
              </a:tr>
              <a:tr h="76223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>
                          <a:effectLst/>
                        </a:rPr>
                        <a:t>A shallow copy of an object copies all of the member field values.</a:t>
                      </a:r>
                      <a:endParaRPr lang="en-GB" sz="1400" b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>
                          <a:effectLst/>
                        </a:rPr>
                        <a:t> Deep copy is performed by implementing our own copy constructor.</a:t>
                      </a:r>
                      <a:endParaRPr lang="en-GB" sz="1400" b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3204658499"/>
                  </a:ext>
                </a:extLst>
              </a:tr>
              <a:tr h="98641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>
                          <a:effectLst/>
                        </a:rPr>
                        <a:t>In shallow copy, the two objects are not independent</a:t>
                      </a:r>
                      <a:endParaRPr lang="en-GB" sz="1400" b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>
                          <a:effectLst/>
                        </a:rPr>
                        <a:t>It copies all fields, and makes copies of dynamically allocated memory pointed to by the fields</a:t>
                      </a:r>
                      <a:endParaRPr lang="en-GB" sz="1400" b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123584513"/>
                  </a:ext>
                </a:extLst>
              </a:tr>
              <a:tr h="98641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dirty="0">
                          <a:effectLst/>
                        </a:rPr>
                        <a:t>It also creates a copy of the dynamically allocated objects</a:t>
                      </a:r>
                      <a:endParaRPr lang="en-GB" sz="1400" b="0" dirty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dirty="0">
                          <a:effectLst/>
                        </a:rPr>
                        <a:t>If we do not create the deep copy in a rightful way then the copy will point to the original, with disastrous consequences.</a:t>
                      </a:r>
                      <a:endParaRPr lang="en-GB" sz="1400" b="0" dirty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2457999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4616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27F2E-DD0F-E751-B0D6-659FD116B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64385"/>
            <a:ext cx="10515600" cy="15754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K" sz="6000" dirty="0"/>
              <a:t>Enough for Today </a:t>
            </a:r>
          </a:p>
        </p:txBody>
      </p:sp>
    </p:spTree>
    <p:extLst>
      <p:ext uri="{BB962C8B-B14F-4D97-AF65-F5344CB8AC3E}">
        <p14:creationId xmlns:p14="http://schemas.microsoft.com/office/powerpoint/2010/main" val="703842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737F4-0E24-92C2-3AB6-A1E7A362B039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93826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764B33-882A-32B8-7F73-E22BD1AF9CCC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626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905</Words>
  <Application>Microsoft Macintosh PowerPoint</Application>
  <PresentationFormat>Widescreen</PresentationFormat>
  <Paragraphs>124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Nunito</vt:lpstr>
      <vt:lpstr>Times New Roman</vt:lpstr>
      <vt:lpstr>Office Theme</vt:lpstr>
      <vt:lpstr>Object-Oriented Programming</vt:lpstr>
      <vt:lpstr>Passing Object by Reference</vt:lpstr>
      <vt:lpstr>Example</vt:lpstr>
      <vt:lpstr>Passing Object by Value</vt:lpstr>
      <vt:lpstr>Example</vt:lpstr>
      <vt:lpstr>Copy Constructor</vt:lpstr>
      <vt:lpstr>Shallow Copy</vt:lpstr>
      <vt:lpstr>Example</vt:lpstr>
      <vt:lpstr>Deep Copy</vt:lpstr>
      <vt:lpstr>Example</vt:lpstr>
      <vt:lpstr>Comparison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Microsoft Office User</dc:creator>
  <cp:lastModifiedBy>Microsoft Office User</cp:lastModifiedBy>
  <cp:revision>3</cp:revision>
  <dcterms:created xsi:type="dcterms:W3CDTF">2026-07-17T16:00:13Z</dcterms:created>
  <dcterms:modified xsi:type="dcterms:W3CDTF">2026-07-18T06:25:28Z</dcterms:modified>
</cp:coreProperties>
</file>