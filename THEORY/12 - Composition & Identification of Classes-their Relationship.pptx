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7" r:id="rId7"/>
    <p:sldId id="270" r:id="rId8"/>
    <p:sldId id="271" r:id="rId9"/>
    <p:sldId id="278" r:id="rId10"/>
    <p:sldId id="272" r:id="rId11"/>
    <p:sldId id="273" r:id="rId12"/>
    <p:sldId id="274" r:id="rId13"/>
    <p:sldId id="275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Composition is a design technique where a class contains objects of other classes as its data members - representing a "has-a" relationship, as opposed to inheritance's "is-a" relationship.</a:t>
            </a:r>
            <a:endParaRPr lang="en-GB" b="1" dirty="0"/>
          </a:p>
          <a:p>
            <a:r>
              <a:rPr lang="en-GB" b="1" dirty="0"/>
              <a:t>Key idea:</a:t>
            </a:r>
            <a:r>
              <a:rPr lang="en-GB" dirty="0"/>
              <a:t> Instead of </a:t>
            </a:r>
            <a:r>
              <a:rPr lang="en-GB" i="1" dirty="0"/>
              <a:t>inheriting</a:t>
            </a:r>
            <a:r>
              <a:rPr lang="en-GB" dirty="0"/>
              <a:t> </a:t>
            </a:r>
            <a:r>
              <a:rPr lang="en-GB" dirty="0" err="1"/>
              <a:t>behavior</a:t>
            </a:r>
            <a:r>
              <a:rPr lang="en-GB" dirty="0"/>
              <a:t>, a class </a:t>
            </a:r>
            <a:r>
              <a:rPr lang="en-GB" i="1" dirty="0"/>
              <a:t>uses</a:t>
            </a:r>
            <a:r>
              <a:rPr lang="en-GB" dirty="0"/>
              <a:t> another class by holding an instance of it.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D03F-BED7-5CA0-1040-5A9AB1DE5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1C134-FB46-D31F-0EF6-372B6900D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249"/>
            <a:ext cx="10515600" cy="4351338"/>
          </a:xfrm>
        </p:spPr>
        <p:txBody>
          <a:bodyPr numCol="2">
            <a:normAutofit fontScale="70000" lnSpcReduction="20000"/>
          </a:bodyPr>
          <a:lstStyle/>
          <a:p>
            <a:r>
              <a:rPr lang="en-GB" dirty="0"/>
              <a:t>class Engine {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start() { </a:t>
            </a:r>
            <a:r>
              <a:rPr lang="en-GB" dirty="0" err="1"/>
              <a:t>cout</a:t>
            </a:r>
            <a:r>
              <a:rPr lang="en-GB" dirty="0"/>
              <a:t> &lt;&lt; "Engine started" &lt;&lt; </a:t>
            </a:r>
            <a:r>
              <a:rPr lang="en-GB" dirty="0" err="1"/>
              <a:t>endl</a:t>
            </a:r>
            <a:r>
              <a:rPr lang="en-GB" dirty="0"/>
              <a:t>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Car {</a:t>
            </a:r>
          </a:p>
          <a:p>
            <a:r>
              <a:rPr lang="en-GB" dirty="0"/>
              <a:t>private:</a:t>
            </a:r>
          </a:p>
          <a:p>
            <a:r>
              <a:rPr lang="en-GB" dirty="0"/>
              <a:t>    Engine engine;   // Car HAS-A Engine (composition)</a:t>
            </a:r>
          </a:p>
          <a:p>
            <a:endParaRPr lang="en-GB" dirty="0"/>
          </a:p>
          <a:p>
            <a:r>
              <a:rPr lang="en-GB" dirty="0"/>
              <a:t>public:</a:t>
            </a:r>
          </a:p>
          <a:p>
            <a:r>
              <a:rPr lang="en-GB" dirty="0"/>
              <a:t>    void </a:t>
            </a:r>
            <a:r>
              <a:rPr lang="en-GB" dirty="0" err="1"/>
              <a:t>startCar</a:t>
            </a:r>
            <a:r>
              <a:rPr lang="en-GB" dirty="0"/>
              <a:t>() {</a:t>
            </a:r>
          </a:p>
          <a:p>
            <a:r>
              <a:rPr lang="en-GB" dirty="0"/>
              <a:t>        </a:t>
            </a:r>
            <a:r>
              <a:rPr lang="en-GB" dirty="0" err="1"/>
              <a:t>engine.start</a:t>
            </a:r>
            <a:r>
              <a:rPr lang="en-GB" dirty="0"/>
              <a:t>();   // delegate to the contained object</a:t>
            </a:r>
          </a:p>
          <a:p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"Car is ready to drive"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Car c;</a:t>
            </a:r>
          </a:p>
          <a:p>
            <a:r>
              <a:rPr lang="en-GB" dirty="0"/>
              <a:t>    </a:t>
            </a:r>
            <a:r>
              <a:rPr lang="en-GB" dirty="0" err="1"/>
              <a:t>c.startCar</a:t>
            </a:r>
            <a:r>
              <a:rPr lang="en-GB" dirty="0"/>
              <a:t>();</a:t>
            </a:r>
          </a:p>
          <a:p>
            <a:r>
              <a:rPr lang="en-GB" dirty="0"/>
              <a:t>    // Engine started</a:t>
            </a:r>
          </a:p>
          <a:p>
            <a:r>
              <a:rPr lang="en-GB" dirty="0"/>
              <a:t>    // Car is ready to drive</a:t>
            </a:r>
          </a:p>
          <a:p>
            <a:r>
              <a:rPr lang="en-GB" dirty="0"/>
              <a:t>}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C6807-30FA-6BFD-A065-944F14A7E650}"/>
              </a:ext>
            </a:extLst>
          </p:cNvPr>
          <p:cNvSpPr txBox="1"/>
          <p:nvPr/>
        </p:nvSpPr>
        <p:spPr>
          <a:xfrm>
            <a:off x="838200" y="596188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Here, Car is not an Engine - it just has one. Car doesn't inherit Engine's interface; it simply uses it internally.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63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584E-F954-09C5-14D5-162915F9E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 vs Inheritance - Key Distinction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4E0893-7C61-C295-B1A5-670350C3F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749138"/>
              </p:ext>
            </p:extLst>
          </p:nvPr>
        </p:nvGraphicFramePr>
        <p:xfrm>
          <a:off x="838200" y="1825624"/>
          <a:ext cx="10515597" cy="32584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494623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7973150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24815698"/>
                    </a:ext>
                  </a:extLst>
                </a:gridCol>
              </a:tblGrid>
              <a:tr h="651688">
                <a:tc>
                  <a:txBody>
                    <a:bodyPr/>
                    <a:lstStyle/>
                    <a:p>
                      <a:pPr algn="ctr"/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Inheritance ("is-a")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Composition ("has-a")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039949"/>
                  </a:ext>
                </a:extLst>
              </a:tr>
              <a:tr h="651688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Relationship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Dog </a:t>
                      </a:r>
                      <a:r>
                        <a:rPr lang="en-GB" b="1" dirty="0"/>
                        <a:t>is an</a:t>
                      </a:r>
                      <a:r>
                        <a:rPr lang="en-GB" dirty="0"/>
                        <a:t> Animal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Car </a:t>
                      </a:r>
                      <a:r>
                        <a:rPr lang="en-GB" b="1" dirty="0"/>
                        <a:t>has an</a:t>
                      </a:r>
                      <a:r>
                        <a:rPr lang="en-GB" dirty="0"/>
                        <a:t> Engine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629984"/>
                  </a:ext>
                </a:extLst>
              </a:tr>
              <a:tr h="651688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Mechanism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class Dog : public Animal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Engine engine; as a member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882052"/>
                  </a:ext>
                </a:extLst>
              </a:tr>
              <a:tr h="651688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Coupling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Tighter (derived depends heavily on base structure)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Looser (more flexible, can swap parts)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230422"/>
                  </a:ext>
                </a:extLst>
              </a:tr>
              <a:tr h="651688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When to use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When one class is a specialized version of another</a:t>
                      </a:r>
                      <a:endParaRPr lang="en-PK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When one class is built using/from another</a:t>
                      </a:r>
                      <a:endParaRPr lang="en-PK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783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69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1670A-9F0E-824D-0A00-C3249C698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/>
          <a:lstStyle/>
          <a:p>
            <a:r>
              <a:rPr lang="en-GB" b="1" dirty="0"/>
              <a:t>Design guideline (well-known principle):</a:t>
            </a:r>
            <a:r>
              <a:rPr lang="en-GB" dirty="0"/>
              <a:t> </a:t>
            </a:r>
            <a:r>
              <a:rPr lang="en-GB" i="1" dirty="0"/>
              <a:t>"</a:t>
            </a:r>
            <a:r>
              <a:rPr lang="en-GB" i="1" dirty="0" err="1"/>
              <a:t>Favor</a:t>
            </a:r>
            <a:r>
              <a:rPr lang="en-GB" i="1" dirty="0"/>
              <a:t> composition over inheritance"</a:t>
            </a:r>
            <a:r>
              <a:rPr lang="en-GB" dirty="0"/>
              <a:t> - because composition is more flexible; you can change </a:t>
            </a:r>
            <a:r>
              <a:rPr lang="en-GB" dirty="0" err="1"/>
              <a:t>behavior</a:t>
            </a:r>
            <a:r>
              <a:rPr lang="en-GB" dirty="0"/>
              <a:t> at runtime by swapping the contained object, whereas inheritance locks in a rigid hierarchy at compile-time.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73511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E97A-B831-9AA4-075F-947101F57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7062"/>
            <a:ext cx="10515600" cy="3063875"/>
          </a:xfrm>
        </p:spPr>
        <p:txBody>
          <a:bodyPr/>
          <a:lstStyle/>
          <a:p>
            <a:pPr algn="ctr"/>
            <a:r>
              <a:rPr lang="en-GB" b="1" dirty="0"/>
              <a:t>Types of Composition Relationship (Strength of Ownership)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136226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520D-08F0-EE62-83D7-223A2927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Composition (strong "has-a")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D7311-458E-4526-A206-2996D3551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contained object cannot exist independently of the container - if the container is destroyed, so is the part. (e.g., a House has Rooms - rooms don't exist without the house.)</a:t>
            </a:r>
          </a:p>
          <a:p>
            <a:endParaRPr lang="en-GB" dirty="0"/>
          </a:p>
          <a:p>
            <a:r>
              <a:rPr lang="en-GB" dirty="0"/>
              <a:t>Example</a:t>
            </a:r>
          </a:p>
          <a:p>
            <a:pPr marL="914400" lvl="2" indent="0">
              <a:buNone/>
            </a:pPr>
            <a:r>
              <a:rPr lang="en-GB" dirty="0"/>
              <a:t>class Room { };</a:t>
            </a:r>
          </a:p>
          <a:p>
            <a:pPr marL="914400" lvl="2" indent="0">
              <a:buNone/>
            </a:pPr>
            <a:r>
              <a:rPr lang="en-GB" dirty="0"/>
              <a:t>class House {</a:t>
            </a:r>
          </a:p>
          <a:p>
            <a:pPr marL="914400" lvl="2" indent="0">
              <a:buNone/>
            </a:pPr>
            <a:r>
              <a:rPr lang="en-GB" dirty="0"/>
              <a:t>    Room room;   // Room's lifetime is tied to House's lifetime</a:t>
            </a:r>
          </a:p>
          <a:p>
            <a:pPr marL="914400" lvl="2" indent="0">
              <a:buNone/>
            </a:pPr>
            <a:r>
              <a:rPr lang="en-GB" dirty="0"/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013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8EC10-C9FB-05D7-D8B3-0D1EE36A9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Aggregation (weak "has-a")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3DB2F-2249-FD8A-87E2-BC0637E9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contained object CAN exist independently - it's just associated, not owned. (e.g., a Teacher has Students, but students exist even if the teacher/class doesn’t.)</a:t>
            </a:r>
          </a:p>
          <a:p>
            <a:r>
              <a:rPr lang="en-GB" dirty="0"/>
              <a:t>Example</a:t>
            </a:r>
          </a:p>
          <a:p>
            <a:pPr marL="914400" lvl="2" indent="0">
              <a:buNone/>
            </a:pPr>
            <a:r>
              <a:rPr lang="en-GB" dirty="0"/>
              <a:t>class Student { };</a:t>
            </a:r>
          </a:p>
          <a:p>
            <a:pPr marL="914400" lvl="2" indent="0">
              <a:buNone/>
            </a:pPr>
            <a:r>
              <a:rPr lang="en-GB" dirty="0"/>
              <a:t>class Teacher {</a:t>
            </a:r>
          </a:p>
          <a:p>
            <a:pPr marL="914400" lvl="2" indent="0">
              <a:buNone/>
            </a:pPr>
            <a:r>
              <a:rPr lang="en-GB" dirty="0"/>
              <a:t>    vector&lt;Student*&gt; students;   // Teacher references Students, doesn't own their lifetime</a:t>
            </a:r>
          </a:p>
          <a:p>
            <a:pPr marL="914400" lvl="2" indent="0">
              <a:buNone/>
            </a:pPr>
            <a:r>
              <a:rPr lang="en-GB" dirty="0"/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0091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DCC7-BCD8-0E55-9A7A-9C28F740F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GB" b="1" dirty="0"/>
              <a:t>Identification of Classes and Their Relationships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362704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FE6E3-594C-3C68-B2C3-20C4F5DB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4920"/>
            <a:ext cx="10515600" cy="5367655"/>
          </a:xfrm>
        </p:spPr>
        <p:txBody>
          <a:bodyPr>
            <a:normAutofit/>
          </a:bodyPr>
          <a:lstStyle/>
          <a:p>
            <a:r>
              <a:rPr lang="en-GB" dirty="0"/>
              <a:t>This is the practical skill of taking a problem statement/requirement and figuring out: what are the classes, and how do they relate to each other?</a:t>
            </a:r>
          </a:p>
          <a:p>
            <a:r>
              <a:rPr lang="en-GB" b="1" dirty="0"/>
              <a:t>Step-by-step approach: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Identify nouns</a:t>
            </a:r>
            <a:r>
              <a:rPr lang="en-GB" dirty="0"/>
              <a:t> → candidate classes or attributes.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Identify verbs</a:t>
            </a:r>
            <a:r>
              <a:rPr lang="en-GB" dirty="0"/>
              <a:t> → candidate methods.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Determine relationships</a:t>
            </a:r>
            <a:r>
              <a:rPr lang="en-GB" dirty="0"/>
              <a:t> between the identified classes: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"is-a"</a:t>
            </a:r>
            <a:r>
              <a:rPr lang="en-GB" dirty="0"/>
              <a:t> → Inheritance (e.g., "A Manager is an Employee")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"has-a" (strong/owns)</a:t>
            </a:r>
            <a:r>
              <a:rPr lang="en-GB" dirty="0"/>
              <a:t> → Composition (e.g., "A Car has an Engine")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"has-a" (weak/uses)</a:t>
            </a:r>
            <a:r>
              <a:rPr lang="en-GB" dirty="0"/>
              <a:t> → Aggregation (e.g., "A Library has Members")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"uses-a"</a:t>
            </a:r>
            <a:r>
              <a:rPr lang="en-GB" dirty="0"/>
              <a:t> → Association/Dependency (e.g., "A Driver uses a Car")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95399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8326-F386-CDAF-3E18-43334E93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altLang="en-PK" dirty="0"/>
              <a:t>Worked Example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6118D-9340-1A2B-A0D7-1188C687A5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394713"/>
              </p:ext>
            </p:extLst>
          </p:nvPr>
        </p:nvGraphicFramePr>
        <p:xfrm>
          <a:off x="838200" y="2804474"/>
          <a:ext cx="10515600" cy="3474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178953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54097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97904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Sentence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Classes Identified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Relationship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9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"University has many Departments"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University, 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Composition ("has-a", strong </a:t>
                      </a:r>
                      <a:r>
                        <a:rPr lang="en-GB" dirty="0"/>
                        <a:t>- departments belong to a university)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247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"Department has a Head of Department"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Department, </a:t>
                      </a:r>
                      <a:r>
                        <a:rPr lang="en-GB" b="0" i="0" dirty="0" err="1">
                          <a:latin typeface="Times New Roman" panose="02020603050405020304" pitchFamily="18" charset="0"/>
                        </a:rPr>
                        <a:t>HeadOfDepartment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Aggregation or Composition (depends on whether head exists independently)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368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"Professor is a type of Employee"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Professor, 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Inheritance</a:t>
                      </a:r>
                      <a:r>
                        <a:rPr lang="en-GB" dirty="0"/>
                        <a:t> ("is-a")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35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"Employee has a Salary"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Employee, 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</a:rPr>
                        <a:t>Composition (attribute-level "has-a", often just a data member like double salary)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394601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A250D63-928B-924B-88E2-6FC726EE1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1" y="1604145"/>
            <a:ext cx="10515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PK" altLang="en-PK" dirty="0">
                <a:latin typeface="Times New Roman" panose="02020603050405020304" pitchFamily="18" charset="0"/>
              </a:rPr>
              <a:t>Problem statement: "A University has many Departments. Each Department has a Head of Department. A Professor is a type of Employee. Every Employee has a Salary."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PK" altLang="en-PK" dirty="0">
                <a:latin typeface="Times New Roman" panose="02020603050405020304" pitchFamily="18" charset="0"/>
              </a:rPr>
              <a:t>Breaking it down: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PK" alt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1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0EEC-9E81-15B5-9C3D-016FF353A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Resulting class design sketch: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D47BC-A15D-E7AE-2FCE-8CFAD0A2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r>
              <a:rPr lang="en-GB" dirty="0"/>
              <a:t>class Employee {</a:t>
            </a:r>
          </a:p>
          <a:p>
            <a:r>
              <a:rPr lang="en-GB" dirty="0"/>
              <a:t>protected:</a:t>
            </a:r>
          </a:p>
          <a:p>
            <a:r>
              <a:rPr lang="en-GB" dirty="0"/>
              <a:t>    double salary;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Employee(double s) { salary = s;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Professor : public Employee {   // is-a relationship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Professor(double s) : Employee(s) {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Department {</a:t>
            </a:r>
          </a:p>
          <a:p>
            <a:r>
              <a:rPr lang="en-GB" dirty="0"/>
              <a:t>private:</a:t>
            </a:r>
          </a:p>
          <a:p>
            <a:r>
              <a:rPr lang="en-GB" dirty="0"/>
              <a:t>    string </a:t>
            </a:r>
            <a:r>
              <a:rPr lang="en-GB" dirty="0" err="1"/>
              <a:t>deptName</a:t>
            </a:r>
            <a:r>
              <a:rPr lang="en-GB" dirty="0"/>
              <a:t>;</a:t>
            </a:r>
          </a:p>
          <a:p>
            <a:r>
              <a:rPr lang="en-GB" dirty="0"/>
              <a:t>    Professor </a:t>
            </a:r>
            <a:r>
              <a:rPr lang="en-GB" dirty="0" err="1"/>
              <a:t>headOfDept</a:t>
            </a:r>
            <a:r>
              <a:rPr lang="en-GB" dirty="0"/>
              <a:t>;   // has-a relationship (composition)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Department(string name, Professor head) : </a:t>
            </a:r>
            <a:r>
              <a:rPr lang="en-GB" dirty="0" err="1"/>
              <a:t>deptName</a:t>
            </a:r>
            <a:r>
              <a:rPr lang="en-GB" dirty="0"/>
              <a:t>(name), </a:t>
            </a:r>
            <a:r>
              <a:rPr lang="en-GB" dirty="0" err="1"/>
              <a:t>headOfDept</a:t>
            </a:r>
            <a:r>
              <a:rPr lang="en-GB" dirty="0"/>
              <a:t>(head) {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  <a:p>
            <a:r>
              <a:rPr lang="en-GB" dirty="0"/>
              <a:t>class University {</a:t>
            </a:r>
          </a:p>
          <a:p>
            <a:r>
              <a:rPr lang="en-GB" dirty="0"/>
              <a:t>private:</a:t>
            </a:r>
          </a:p>
          <a:p>
            <a:r>
              <a:rPr lang="en-GB" dirty="0"/>
              <a:t>    vector&lt;Department&gt; departments;   // has-a relationship (composition)</a:t>
            </a:r>
          </a:p>
          <a:p>
            <a:r>
              <a:rPr lang="en-GB" dirty="0"/>
              <a:t>public:</a:t>
            </a:r>
          </a:p>
          <a:p>
            <a:r>
              <a:rPr lang="en-GB" dirty="0"/>
              <a:t>    void </a:t>
            </a:r>
            <a:r>
              <a:rPr lang="en-GB" dirty="0" err="1"/>
              <a:t>addDepartment</a:t>
            </a:r>
            <a:r>
              <a:rPr lang="en-GB" dirty="0"/>
              <a:t>(Department d) {</a:t>
            </a:r>
          </a:p>
          <a:p>
            <a:r>
              <a:rPr lang="en-GB" dirty="0"/>
              <a:t>        </a:t>
            </a:r>
            <a:r>
              <a:rPr lang="en-GB" dirty="0" err="1"/>
              <a:t>departments.push_back</a:t>
            </a:r>
            <a:r>
              <a:rPr lang="en-GB" dirty="0"/>
              <a:t>(d);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20613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21C7-5533-38A1-FD2B-FCF8D7B3F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Quick Decision Guide for Identifying Relationships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73B01-50AA-1774-5C62-00A9AF60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Ask yourself these questions about any two classes A and 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"Is A a specialized kind of B?" → Inheritance (class A : public 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"Does A own/contain B, and B can't exist without A?" → Composition (B b; as member)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"Does A use/reference B, but B exists independently?" → Aggregation (B* b; or B&amp; b;)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"Does A just temporarily use B (e.g., as a function parameter) without storing it?" → Association/Dependency (no member, just passed in a method)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611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984</Words>
  <Application>Microsoft Macintosh PowerPoint</Application>
  <PresentationFormat>Widescreen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Office Theme</vt:lpstr>
      <vt:lpstr>Object-Oriented Programming</vt:lpstr>
      <vt:lpstr>Composition</vt:lpstr>
      <vt:lpstr>Example</vt:lpstr>
      <vt:lpstr>Composition vs Inheritance - Key Distinction</vt:lpstr>
      <vt:lpstr>PowerPoint Presentation</vt:lpstr>
      <vt:lpstr>Types of Composition Relationship (Strength of Ownership)</vt:lpstr>
      <vt:lpstr>Composition (strong "has-a")</vt:lpstr>
      <vt:lpstr>Aggregation (weak "has-a")</vt:lpstr>
      <vt:lpstr>Identification of Classes and Their Relationships</vt:lpstr>
      <vt:lpstr>PowerPoint Presentation</vt:lpstr>
      <vt:lpstr>Worked Example</vt:lpstr>
      <vt:lpstr>Resulting class design sketch:</vt:lpstr>
      <vt:lpstr>Quick Decision Guide for Identifying Relationships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2</cp:revision>
  <dcterms:created xsi:type="dcterms:W3CDTF">2026-07-17T16:00:13Z</dcterms:created>
  <dcterms:modified xsi:type="dcterms:W3CDTF">2026-07-18T17:15:50Z</dcterms:modified>
</cp:coreProperties>
</file>