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1" r:id="rId3"/>
    <p:sldId id="266" r:id="rId4"/>
    <p:sldId id="269" r:id="rId5"/>
    <p:sldId id="267" r:id="rId6"/>
    <p:sldId id="268" r:id="rId7"/>
    <p:sldId id="270" r:id="rId8"/>
    <p:sldId id="272" r:id="rId9"/>
    <p:sldId id="273" r:id="rId10"/>
    <p:sldId id="274" r:id="rId11"/>
    <p:sldId id="275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59"/>
  </p:normalViewPr>
  <p:slideViewPr>
    <p:cSldViewPr snapToGrid="0">
      <p:cViewPr varScale="1">
        <p:scale>
          <a:sx n="105" d="100"/>
          <a:sy n="105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18/07/2026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18/07/2026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483" y="802874"/>
            <a:ext cx="10168569" cy="2387600"/>
          </a:xfrm>
        </p:spPr>
        <p:txBody>
          <a:bodyPr/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Instructor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9289B-8F18-C9AB-11F2-11F049FD7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221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4000" b="1" dirty="0"/>
              <a:t>Function &amp; Operator Overloading</a:t>
            </a:r>
          </a:p>
          <a:p>
            <a:pPr marL="0" indent="0" algn="ctr">
              <a:buNone/>
            </a:pPr>
            <a:r>
              <a:rPr lang="en-PK" sz="4000" dirty="0"/>
              <a:t>Polymorphism Concept – Compile-Time</a:t>
            </a:r>
          </a:p>
        </p:txBody>
      </p:sp>
    </p:spTree>
    <p:extLst>
      <p:ext uri="{BB962C8B-B14F-4D97-AF65-F5344CB8AC3E}">
        <p14:creationId xmlns:p14="http://schemas.microsoft.com/office/powerpoint/2010/main" val="121767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</a:t>
            </a:r>
            <a:r>
              <a:rPr lang="en-GB" dirty="0"/>
              <a:t> Function overloading allows you to define multiple functions with the same name in a class, as long as they differ in their parameter list (number of parameters, types of parameters, or order of parameters).</a:t>
            </a:r>
          </a:p>
          <a:p>
            <a:r>
              <a:rPr lang="en-GB" b="1" dirty="0"/>
              <a:t>Key idea:</a:t>
            </a:r>
            <a:r>
              <a:rPr lang="en-GB" dirty="0"/>
              <a:t> Same function name, different </a:t>
            </a:r>
            <a:r>
              <a:rPr lang="en-GB" dirty="0" err="1"/>
              <a:t>behavior</a:t>
            </a:r>
            <a:r>
              <a:rPr lang="en-GB" dirty="0"/>
              <a:t> based on what arguments you pass - this is compile-time polymorphism (also called static polymorphism), because the compiler decides which version to call at compile-time, based on the arguments.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15FF2-E446-0F3B-7ABD-E05B930A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Rules for overloading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572AD-6CAE-8CC0-D66B-2CCE5A8D7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Functions must have the same name.</a:t>
            </a:r>
          </a:p>
          <a:p>
            <a:r>
              <a:rPr lang="en-GB" dirty="0"/>
              <a:t>They must differ in number of parameters, OR type of parameters, OR order of parameters.</a:t>
            </a:r>
          </a:p>
          <a:p>
            <a:r>
              <a:rPr lang="en-GB" dirty="0"/>
              <a:t>Return type alone is NOT enough to overload - two functions with the same name, same parameters, but different return types will cause a compile error.</a:t>
            </a:r>
          </a:p>
          <a:p>
            <a:r>
              <a:rPr lang="en-GB" dirty="0"/>
              <a:t>The compiler looks at the arguments you pass and matches them to the correct version - this is called function resolution or overload resolution, done entirely at compile-time.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1964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E16E-63FD-F91E-43BC-F8157CB07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767B1-2989-8005-2914-794E0FE1C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#include &lt;iostream&gt;</a:t>
            </a:r>
          </a:p>
          <a:p>
            <a:pPr marL="0" indent="0">
              <a:buNone/>
            </a:pPr>
            <a:r>
              <a:rPr lang="en-GB" dirty="0"/>
              <a:t>using namespace std;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Calculator {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// Overload 1 - two int parameters</a:t>
            </a:r>
          </a:p>
          <a:p>
            <a:pPr marL="0" indent="0">
              <a:buNone/>
            </a:pPr>
            <a:r>
              <a:rPr lang="en-GB" dirty="0"/>
              <a:t>    int add(int a, int b) {</a:t>
            </a:r>
          </a:p>
          <a:p>
            <a:pPr marL="0" indent="0">
              <a:buNone/>
            </a:pPr>
            <a:r>
              <a:rPr lang="en-GB" dirty="0"/>
              <a:t>        return a + b;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// Overload 2 - three int parameters (differs in NUMBER of params)</a:t>
            </a:r>
          </a:p>
          <a:p>
            <a:pPr marL="0" indent="0">
              <a:buNone/>
            </a:pPr>
            <a:r>
              <a:rPr lang="en-GB" dirty="0"/>
              <a:t>    int add(int a, int b, int c) {</a:t>
            </a:r>
          </a:p>
          <a:p>
            <a:pPr marL="0" indent="0">
              <a:buNone/>
            </a:pPr>
            <a:r>
              <a:rPr lang="en-GB" dirty="0"/>
              <a:t>        return a + b + c;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// Overload 3 - two double parameters (differs in TYPE of params)</a:t>
            </a:r>
          </a:p>
          <a:p>
            <a:pPr marL="0" indent="0">
              <a:buNone/>
            </a:pPr>
            <a:r>
              <a:rPr lang="en-GB" dirty="0"/>
              <a:t>    double add(double a, double b) {</a:t>
            </a:r>
          </a:p>
          <a:p>
            <a:pPr marL="0" indent="0">
              <a:buNone/>
            </a:pPr>
            <a:r>
              <a:rPr lang="en-GB" dirty="0"/>
              <a:t>        return a + b;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Calculator calc;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</a:t>
            </a:r>
            <a:r>
              <a:rPr lang="en-GB" dirty="0" err="1"/>
              <a:t>calc.add</a:t>
            </a:r>
            <a:r>
              <a:rPr lang="en-GB" dirty="0"/>
              <a:t>(2, 3) &lt;&lt; </a:t>
            </a:r>
            <a:r>
              <a:rPr lang="en-GB" dirty="0" err="1"/>
              <a:t>endl</a:t>
            </a:r>
            <a:r>
              <a:rPr lang="en-GB" dirty="0"/>
              <a:t>;         // calls Overload 1 -&gt; 5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</a:t>
            </a:r>
            <a:r>
              <a:rPr lang="en-GB" dirty="0" err="1"/>
              <a:t>calc.add</a:t>
            </a:r>
            <a:r>
              <a:rPr lang="en-GB" dirty="0"/>
              <a:t>(2, 3, 4) &lt;&lt; </a:t>
            </a:r>
            <a:r>
              <a:rPr lang="en-GB" dirty="0" err="1"/>
              <a:t>endl</a:t>
            </a:r>
            <a:r>
              <a:rPr lang="en-GB" dirty="0"/>
              <a:t>;      // calls Overload 2 -&gt; 9</a:t>
            </a:r>
          </a:p>
          <a:p>
            <a:pPr marL="0" indent="0">
              <a:buNone/>
            </a:pPr>
            <a:r>
              <a:rPr lang="en-GB" dirty="0"/>
              <a:t>    </a:t>
            </a:r>
            <a:r>
              <a:rPr lang="en-GB" dirty="0" err="1"/>
              <a:t>cout</a:t>
            </a:r>
            <a:r>
              <a:rPr lang="en-GB" dirty="0"/>
              <a:t> &lt;&lt; </a:t>
            </a:r>
            <a:r>
              <a:rPr lang="en-GB" dirty="0" err="1"/>
              <a:t>calc.add</a:t>
            </a:r>
            <a:r>
              <a:rPr lang="en-GB" dirty="0"/>
              <a:t>(2.5, 3.5) &lt;&lt; </a:t>
            </a:r>
            <a:r>
              <a:rPr lang="en-GB" dirty="0" err="1"/>
              <a:t>endl</a:t>
            </a:r>
            <a:r>
              <a:rPr lang="en-GB" dirty="0"/>
              <a:t>;     // calls Overload 3 -&gt; 6.0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7715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B2C1E-4381-4F0E-0E6A-4AC419839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Invalid </a:t>
            </a:r>
            <a:r>
              <a:rPr lang="en-GB" dirty="0"/>
              <a:t>overload (won't compile)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8AD24-47C0-F475-CD5D-EBFA65A84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int add(int a, int b) { return a + b; }</a:t>
            </a:r>
          </a:p>
          <a:p>
            <a:pPr marL="0" indent="0">
              <a:buNone/>
            </a:pPr>
            <a:r>
              <a:rPr lang="en-GB" dirty="0"/>
              <a:t>double add(int a, int b) { return a + b; }   // ERROR - same signature except return type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24472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8B6E-5C07-0A0A-9DB3-51CACBC42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Constructor Overloading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03E4-73C2-5B35-55BA-CCC571D6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special case we already touched on.</a:t>
            </a:r>
          </a:p>
          <a:p>
            <a:r>
              <a:rPr lang="en-GB" dirty="0"/>
              <a:t>Example:</a:t>
            </a:r>
          </a:p>
          <a:p>
            <a:pPr marL="914400" lvl="2" indent="0">
              <a:buNone/>
            </a:pPr>
            <a:r>
              <a:rPr lang="en-GB" dirty="0"/>
              <a:t>class Student { </a:t>
            </a:r>
          </a:p>
          <a:p>
            <a:pPr marL="914400" lvl="2" indent="0">
              <a:buNone/>
            </a:pPr>
            <a:r>
              <a:rPr lang="en-GB" dirty="0"/>
              <a:t>public: </a:t>
            </a:r>
          </a:p>
          <a:p>
            <a:pPr marL="914400" lvl="2" indent="0">
              <a:buNone/>
            </a:pPr>
            <a:r>
              <a:rPr lang="en-GB" dirty="0"/>
              <a:t>Student() { } // no params </a:t>
            </a:r>
          </a:p>
          <a:p>
            <a:pPr marL="914400" lvl="2" indent="0">
              <a:buNone/>
            </a:pPr>
            <a:r>
              <a:rPr lang="en-GB" dirty="0"/>
              <a:t>Student(string n) { } // 1 param </a:t>
            </a:r>
          </a:p>
          <a:p>
            <a:pPr marL="914400" lvl="2" indent="0">
              <a:buNone/>
            </a:pPr>
            <a:r>
              <a:rPr lang="en-GB" dirty="0"/>
              <a:t>Student(string n, int m) { } // 2 params };</a:t>
            </a:r>
          </a:p>
          <a:p>
            <a:r>
              <a:rPr lang="en-GB" dirty="0"/>
              <a:t>This is the exact same concept - just applied to constructors specifically.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99925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AAAF8-E19E-E3ED-4BA8-8365568A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Operator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03B57-491C-9F7C-8572-94FC0495E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Definition: </a:t>
            </a:r>
            <a:r>
              <a:rPr lang="en-GB" dirty="0"/>
              <a:t>Operator overloading allows you to redefine the behaviour of C++ operators (+, -, ==, &lt;&lt;, etc.) so they work with user-defined types (objects of your own classes), not just built-in types like int or double.</a:t>
            </a:r>
          </a:p>
          <a:p>
            <a:r>
              <a:rPr lang="en-GB" b="1" dirty="0"/>
              <a:t>Key idea: </a:t>
            </a:r>
            <a:r>
              <a:rPr lang="en-GB" dirty="0"/>
              <a:t>It lets objects use natural, intuitive syntax - e.g., adding two Complex numbers with c1 + c2 instead of writing c1.add(c2). Still compile-time polymorphism - the compiler decides which operator function to call based on operand types.</a:t>
            </a:r>
          </a:p>
          <a:p>
            <a:r>
              <a:rPr lang="en-GB" b="1" dirty="0"/>
              <a:t>Syntax: </a:t>
            </a:r>
            <a:r>
              <a:rPr lang="en-GB" dirty="0"/>
              <a:t>Uses the keyword operator followed by the operator symbol.</a:t>
            </a:r>
          </a:p>
          <a:p>
            <a:r>
              <a:rPr lang="en-GB" dirty="0" err="1"/>
              <a:t>returnType</a:t>
            </a:r>
            <a:r>
              <a:rPr lang="en-GB" dirty="0"/>
              <a:t> operator symbol (parameters) { // logic }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94418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7189-8FFB-5626-5EAA-9ECA3E43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B718E-B272-36D3-A3F0-B1039D44F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289"/>
            <a:ext cx="10515600" cy="4351338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class Complex {</a:t>
            </a:r>
          </a:p>
          <a:p>
            <a:pPr marL="0" indent="0">
              <a:buNone/>
            </a:pPr>
            <a:r>
              <a:rPr lang="en-GB" dirty="0"/>
              <a:t>private:</a:t>
            </a:r>
          </a:p>
          <a:p>
            <a:pPr marL="0" indent="0">
              <a:buNone/>
            </a:pPr>
            <a:r>
              <a:rPr lang="en-GB" dirty="0"/>
              <a:t>    int real, </a:t>
            </a:r>
            <a:r>
              <a:rPr lang="en-GB" dirty="0" err="1"/>
              <a:t>imag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Complex(int r = 0, int </a:t>
            </a:r>
            <a:r>
              <a:rPr lang="en-GB" dirty="0" err="1"/>
              <a:t>i</a:t>
            </a:r>
            <a:r>
              <a:rPr lang="en-GB" dirty="0"/>
              <a:t> = 0) {</a:t>
            </a:r>
          </a:p>
          <a:p>
            <a:pPr marL="0" indent="0">
              <a:buNone/>
            </a:pPr>
            <a:r>
              <a:rPr lang="en-GB" dirty="0"/>
              <a:t>        real = r;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imag</a:t>
            </a:r>
            <a:r>
              <a:rPr lang="en-GB" dirty="0"/>
              <a:t> = </a:t>
            </a:r>
            <a:r>
              <a:rPr lang="en-GB" dirty="0" err="1"/>
              <a:t>i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// Operator overloading - member function</a:t>
            </a:r>
          </a:p>
          <a:p>
            <a:pPr marL="0" indent="0">
              <a:buNone/>
            </a:pPr>
            <a:r>
              <a:rPr lang="en-GB" dirty="0"/>
              <a:t>    Complex operator+(</a:t>
            </a:r>
            <a:r>
              <a:rPr lang="en-GB" dirty="0" err="1"/>
              <a:t>const</a:t>
            </a:r>
            <a:r>
              <a:rPr lang="en-GB" dirty="0"/>
              <a:t> Complex &amp;c2) {</a:t>
            </a:r>
          </a:p>
          <a:p>
            <a:pPr marL="0" indent="0">
              <a:buNone/>
            </a:pPr>
            <a:r>
              <a:rPr lang="en-GB" dirty="0"/>
              <a:t>        Complex temp;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temp.real</a:t>
            </a:r>
            <a:r>
              <a:rPr lang="en-GB" dirty="0"/>
              <a:t> = real + c2.real;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temp.imag</a:t>
            </a:r>
            <a:r>
              <a:rPr lang="en-GB" dirty="0"/>
              <a:t> = </a:t>
            </a:r>
            <a:r>
              <a:rPr lang="en-GB" dirty="0" err="1"/>
              <a:t>imag</a:t>
            </a:r>
            <a:r>
              <a:rPr lang="en-GB" dirty="0"/>
              <a:t> + c2.imag;</a:t>
            </a:r>
          </a:p>
          <a:p>
            <a:pPr marL="0" indent="0">
              <a:buNone/>
            </a:pPr>
            <a:r>
              <a:rPr lang="en-GB" dirty="0"/>
              <a:t>        return temp;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void display() {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real &lt;&lt; " + " &lt;&lt; </a:t>
            </a:r>
            <a:r>
              <a:rPr lang="en-GB" dirty="0" err="1"/>
              <a:t>imag</a:t>
            </a:r>
            <a:r>
              <a:rPr lang="en-GB" dirty="0"/>
              <a:t> &lt;&lt; "</a:t>
            </a:r>
            <a:r>
              <a:rPr lang="en-GB" dirty="0" err="1"/>
              <a:t>i</a:t>
            </a:r>
            <a:r>
              <a:rPr lang="en-GB" dirty="0"/>
              <a:t>"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Complex c1(3, 4);</a:t>
            </a:r>
          </a:p>
          <a:p>
            <a:pPr marL="0" indent="0">
              <a:buNone/>
            </a:pPr>
            <a:r>
              <a:rPr lang="en-GB" dirty="0"/>
              <a:t>    Complex c2(1, 2);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Complex c3 = c1 + c2;   // internally calls: c1.operator+(c2)</a:t>
            </a:r>
          </a:p>
          <a:p>
            <a:pPr marL="0" indent="0">
              <a:buNone/>
            </a:pPr>
            <a:r>
              <a:rPr lang="en-GB" dirty="0"/>
              <a:t>    c3.display();           // 4 + 6i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F073F-D4A1-B4B7-0F00-7F8B158FE925}"/>
              </a:ext>
            </a:extLst>
          </p:cNvPr>
          <p:cNvSpPr txBox="1"/>
          <p:nvPr/>
        </p:nvSpPr>
        <p:spPr>
          <a:xfrm>
            <a:off x="1572768" y="5774627"/>
            <a:ext cx="940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</a:rPr>
              <a:t>What's happening: c1 + c2 is just syntactic sugar for c1.operator+(c2). The this pointer inside operator+ refers to c1, and c2 is passed as the parameter.</a:t>
            </a:r>
            <a:endParaRPr lang="en-PK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735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41289-6D44-04E1-68F7-8D5FDCFCA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 (==)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1A953-554C-A959-50D6-0ADF8413C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class Complex {</a:t>
            </a:r>
          </a:p>
          <a:p>
            <a:pPr marL="0" indent="0">
              <a:buNone/>
            </a:pPr>
            <a:r>
              <a:rPr lang="en-GB" dirty="0"/>
              <a:t>    int real, </a:t>
            </a:r>
            <a:r>
              <a:rPr lang="en-GB" dirty="0" err="1"/>
              <a:t>imag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public:</a:t>
            </a:r>
          </a:p>
          <a:p>
            <a:pPr marL="0" indent="0">
              <a:buNone/>
            </a:pPr>
            <a:r>
              <a:rPr lang="en-GB" dirty="0"/>
              <a:t>    Complex(int r, int </a:t>
            </a:r>
            <a:r>
              <a:rPr lang="en-GB" dirty="0" err="1"/>
              <a:t>i</a:t>
            </a:r>
            <a:r>
              <a:rPr lang="en-GB" dirty="0"/>
              <a:t>) { real = r; </a:t>
            </a:r>
            <a:r>
              <a:rPr lang="en-GB" dirty="0" err="1"/>
              <a:t>imag</a:t>
            </a:r>
            <a:r>
              <a:rPr lang="en-GB" dirty="0"/>
              <a:t> = </a:t>
            </a:r>
            <a:r>
              <a:rPr lang="en-GB" dirty="0" err="1"/>
              <a:t>i</a:t>
            </a:r>
            <a:r>
              <a:rPr lang="en-GB" dirty="0"/>
              <a:t>; }</a:t>
            </a:r>
          </a:p>
          <a:p>
            <a:pPr marL="0" indent="0">
              <a:buNone/>
            </a:pPr>
            <a:r>
              <a:rPr lang="en-GB" dirty="0"/>
              <a:t>    bool operator==(</a:t>
            </a:r>
            <a:r>
              <a:rPr lang="en-GB" dirty="0" err="1"/>
              <a:t>const</a:t>
            </a:r>
            <a:r>
              <a:rPr lang="en-GB" dirty="0"/>
              <a:t> Complex &amp;c2) {</a:t>
            </a:r>
          </a:p>
          <a:p>
            <a:pPr marL="0" indent="0">
              <a:buNone/>
            </a:pPr>
            <a:r>
              <a:rPr lang="en-GB" dirty="0"/>
              <a:t>        return (real == c2.real &amp;&amp; </a:t>
            </a:r>
            <a:r>
              <a:rPr lang="en-GB" dirty="0" err="1"/>
              <a:t>imag</a:t>
            </a:r>
            <a:r>
              <a:rPr lang="en-GB" dirty="0"/>
              <a:t> == c2.imag);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};</a:t>
            </a:r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Complex c1(3, 4), c2(3, 4);</a:t>
            </a:r>
          </a:p>
          <a:p>
            <a:pPr marL="0" indent="0">
              <a:buNone/>
            </a:pPr>
            <a:r>
              <a:rPr lang="en-GB" dirty="0"/>
              <a:t>    if (c1 == c2)   // calls c1.operator==(c2)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"Equal";</a:t>
            </a:r>
          </a:p>
          <a:p>
            <a:pPr marL="0" indent="0">
              <a:buNone/>
            </a:pPr>
            <a:r>
              <a:rPr lang="en-GB" dirty="0"/>
              <a:t>    else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cout</a:t>
            </a:r>
            <a:r>
              <a:rPr lang="en-GB" dirty="0"/>
              <a:t> &lt;&lt; "Not Equal";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50200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6D599-6E19-3192-8515-EDB25CC4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Important Rules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C9C5C-FEDB-AA2F-3587-3D20F8F93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Cannot create new operators</a:t>
            </a:r>
            <a:r>
              <a:rPr lang="en-GB" dirty="0"/>
              <a:t> - you can only overload operators that already exist in C++ (+, -, *, ==, &lt;&lt;, etc.).</a:t>
            </a:r>
          </a:p>
          <a:p>
            <a:r>
              <a:rPr lang="en-GB" b="1" dirty="0"/>
              <a:t>Cannot change operator precedence or associativity</a:t>
            </a:r>
            <a:r>
              <a:rPr lang="en-GB" dirty="0"/>
              <a:t> - * will always bind tighter than +, even when overloaded.</a:t>
            </a:r>
          </a:p>
          <a:p>
            <a:r>
              <a:rPr lang="en-GB" dirty="0"/>
              <a:t>Some operators </a:t>
            </a:r>
            <a:r>
              <a:rPr lang="en-GB" b="1" dirty="0"/>
              <a:t>cannot</a:t>
            </a:r>
            <a:r>
              <a:rPr lang="en-GB" dirty="0"/>
              <a:t> be overloaded: :: (scope resolution), . (dot), ?: (ternary), </a:t>
            </a:r>
            <a:r>
              <a:rPr lang="en-GB" dirty="0" err="1"/>
              <a:t>sizeof</a:t>
            </a:r>
            <a:r>
              <a:rPr lang="en-GB" dirty="0"/>
              <a:t>.</a:t>
            </a:r>
          </a:p>
          <a:p>
            <a:r>
              <a:rPr lang="en-GB" b="1" dirty="0"/>
              <a:t>At least one operand</a:t>
            </a:r>
            <a:r>
              <a:rPr lang="en-GB" dirty="0"/>
              <a:t> must be a user-defined type (you can't overload + for two plain </a:t>
            </a:r>
            <a:r>
              <a:rPr lang="en-GB" dirty="0" err="1"/>
              <a:t>ints</a:t>
            </a:r>
            <a:r>
              <a:rPr lang="en-GB" dirty="0"/>
              <a:t>).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08319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7F2E-DD0F-E751-B0D6-659FD116B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4385"/>
            <a:ext cx="10515600" cy="15754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K" sz="6000" dirty="0"/>
              <a:t>Enough for Today </a:t>
            </a:r>
          </a:p>
        </p:txBody>
      </p:sp>
    </p:spTree>
    <p:extLst>
      <p:ext uri="{BB962C8B-B14F-4D97-AF65-F5344CB8AC3E}">
        <p14:creationId xmlns:p14="http://schemas.microsoft.com/office/powerpoint/2010/main" val="703842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999</Words>
  <Application>Microsoft Macintosh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Object-Oriented Programming</vt:lpstr>
      <vt:lpstr>PowerPoint Presentation</vt:lpstr>
      <vt:lpstr>Function Overloading</vt:lpstr>
      <vt:lpstr>Rules for overloading</vt:lpstr>
      <vt:lpstr>Example</vt:lpstr>
      <vt:lpstr>Invalid overload (won't compile)</vt:lpstr>
      <vt:lpstr>Constructor Overloading</vt:lpstr>
      <vt:lpstr>Operator Overloading</vt:lpstr>
      <vt:lpstr>Example</vt:lpstr>
      <vt:lpstr>Example (==)</vt:lpstr>
      <vt:lpstr>Important Rules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4</cp:revision>
  <dcterms:created xsi:type="dcterms:W3CDTF">2026-07-17T16:00:13Z</dcterms:created>
  <dcterms:modified xsi:type="dcterms:W3CDTF">2026-07-18T11:12:51Z</dcterms:modified>
</cp:coreProperties>
</file>